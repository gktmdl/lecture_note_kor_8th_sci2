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  <p:sldId id="261" r:id="rId6"/>
    <p:sldId id="276" r:id="rId7"/>
    <p:sldId id="262" r:id="rId8"/>
    <p:sldId id="277" r:id="rId9"/>
    <p:sldId id="263" r:id="rId10"/>
    <p:sldId id="264" r:id="rId11"/>
    <p:sldId id="266" r:id="rId12"/>
    <p:sldId id="269" r:id="rId13"/>
    <p:sldId id="270" r:id="rId14"/>
    <p:sldId id="271" r:id="rId15"/>
    <p:sldId id="272" r:id="rId16"/>
    <p:sldId id="273" r:id="rId17"/>
    <p:sldId id="278" r:id="rId18"/>
    <p:sldId id="274" r:id="rId19"/>
    <p:sldId id="275" r:id="rId20"/>
    <p:sldId id="279" r:id="rId21"/>
    <p:sldId id="280" r:id="rId22"/>
    <p:sldId id="285" r:id="rId23"/>
    <p:sldId id="281" r:id="rId24"/>
    <p:sldId id="282" r:id="rId25"/>
    <p:sldId id="284" r:id="rId26"/>
    <p:sldId id="283" r:id="rId27"/>
    <p:sldId id="289" r:id="rId28"/>
    <p:sldId id="291" r:id="rId29"/>
    <p:sldId id="290" r:id="rId30"/>
    <p:sldId id="286" r:id="rId31"/>
    <p:sldId id="347" r:id="rId32"/>
    <p:sldId id="292" r:id="rId33"/>
    <p:sldId id="294" r:id="rId34"/>
    <p:sldId id="295" r:id="rId35"/>
    <p:sldId id="297" r:id="rId36"/>
    <p:sldId id="296" r:id="rId37"/>
    <p:sldId id="300" r:id="rId38"/>
    <p:sldId id="298" r:id="rId39"/>
    <p:sldId id="299" r:id="rId40"/>
    <p:sldId id="301" r:id="rId41"/>
    <p:sldId id="302" r:id="rId42"/>
    <p:sldId id="305" r:id="rId43"/>
    <p:sldId id="303" r:id="rId44"/>
    <p:sldId id="306" r:id="rId45"/>
    <p:sldId id="304" r:id="rId46"/>
    <p:sldId id="307" r:id="rId47"/>
    <p:sldId id="308" r:id="rId48"/>
    <p:sldId id="309" r:id="rId49"/>
    <p:sldId id="310" r:id="rId50"/>
    <p:sldId id="311" r:id="rId51"/>
    <p:sldId id="320" r:id="rId52"/>
    <p:sldId id="314" r:id="rId53"/>
    <p:sldId id="315" r:id="rId54"/>
    <p:sldId id="312" r:id="rId55"/>
    <p:sldId id="317" r:id="rId56"/>
    <p:sldId id="318" r:id="rId57"/>
    <p:sldId id="319" r:id="rId58"/>
    <p:sldId id="316" r:id="rId59"/>
    <p:sldId id="321" r:id="rId60"/>
    <p:sldId id="322" r:id="rId61"/>
    <p:sldId id="323" r:id="rId62"/>
    <p:sldId id="324" r:id="rId63"/>
    <p:sldId id="325" r:id="rId64"/>
    <p:sldId id="326" r:id="rId65"/>
    <p:sldId id="328" r:id="rId66"/>
    <p:sldId id="329" r:id="rId67"/>
    <p:sldId id="331" r:id="rId68"/>
    <p:sldId id="344" r:id="rId69"/>
    <p:sldId id="345" r:id="rId70"/>
    <p:sldId id="346" r:id="rId71"/>
    <p:sldId id="327" r:id="rId72"/>
    <p:sldId id="333" r:id="rId73"/>
    <p:sldId id="334" r:id="rId74"/>
    <p:sldId id="335" r:id="rId75"/>
    <p:sldId id="336" r:id="rId76"/>
    <p:sldId id="337" r:id="rId77"/>
    <p:sldId id="338" r:id="rId78"/>
    <p:sldId id="339" r:id="rId79"/>
    <p:sldId id="340" r:id="rId80"/>
    <p:sldId id="341" r:id="rId81"/>
    <p:sldId id="342" r:id="rId8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6:33:25.8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0 145 24575,'7'0'0,"0"1"0,0-1 0,-1 2 0,1-1 0,0 1 0,-1 0 0,1 0 0,-1 0 0,0 1 0,1 0 0,-1 1 0,-1-1 0,1 1 0,9 8 0,2 5 0,-1 0 0,28 38 0,-2-3 0,-36-43 0,0-1 0,-1 1 0,0-1 0,6 16 0,15 25 0,-8-22 0,-2 0 0,19 46 0,-29-62 0,5 11 0,1 0 0,0-1 0,2-1 0,18 21 0,-32-40 0,1 0 0,0 0 0,-1-1 0,1 1 0,0 0 0,0-1 0,0 1 0,0 0 0,0-1 0,0 1 0,0-1 0,0 1 0,0-1 0,0 0 0,0 0 0,0 1 0,0-1 0,0 0 0,0 0 0,0 0 0,0 0 0,0 0 0,0 0 0,2 0 0,0-1 0,-1 0 0,0 0 0,1 0 0,-1-1 0,0 1 0,0 0 0,0-1 0,0 0 0,0 1 0,3-4 0,3-5 0,1 0 0,-1-1 0,7-14 0,-12 20 0,97-151 0,-54 67 0,6-10 0,-14 38 0,-15 22 0,1 1 0,31-35 0,-20 41 83,-28 27-373,0-1 1,-1 0-1,1 0 1,8-12-1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6:33:25.8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0 145 24575,'7'0'0,"0"1"0,0-1 0,-1 2 0,1-1 0,0 1 0,-1 0 0,1 0 0,-1 0 0,0 1 0,1 0 0,-1 1 0,-1-1 0,1 1 0,9 8 0,2 5 0,-1 0 0,28 38 0,-2-3 0,-36-43 0,0-1 0,-1 1 0,0-1 0,6 16 0,15 25 0,-8-22 0,-2 0 0,19 46 0,-29-62 0,5 11 0,1 0 0,0-1 0,2-1 0,18 21 0,-32-40 0,1 0 0,0 0 0,-1-1 0,1 1 0,0 0 0,0-1 0,0 1 0,0 0 0,0-1 0,0 1 0,0-1 0,0 1 0,0-1 0,0 0 0,0 0 0,0 1 0,0-1 0,0 0 0,0 0 0,0 0 0,0 0 0,0 0 0,0 0 0,2 0 0,0-1 0,-1 0 0,0 0 0,1 0 0,-1-1 0,0 1 0,0 0 0,0-1 0,0 0 0,0 1 0,3-4 0,3-5 0,1 0 0,-1-1 0,7-14 0,-12 20 0,97-151 0,-54 67 0,6-10 0,-14 38 0,-15 22 0,1 1 0,31-35 0,-20 41 83,-28 27-373,0-1 1,-1 0-1,1 0 1,8-12-1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6:48:36.4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1 158 24575,'3'-1'0,"-1"-1"0,1 1 0,-1-1 0,1 0 0,-1 0 0,0 0 0,0-1 0,0 1 0,0-1 0,0 1 0,0-1 0,-1 1 0,3-5 0,9-12 0,1 7 0,-1 0 0,2 1 0,0 0 0,0 2 0,1 0 0,0 0 0,22-7 0,-26 12 0,-1 1 0,1 0 0,0 1 0,0 0 0,1 1 0,-1 0 0,0 1 0,0 1 0,0 0 0,0 0 0,20 6 0,-29-5 0,0 0 0,-1 0 0,1 0 0,0 0 0,-1 1 0,0-1 0,0 1 0,1-1 0,-2 1 0,1 0 0,0 0 0,0 0 0,-1 0 0,0 0 0,1 0 0,-1 1 0,-1-1 0,1 0 0,0 0 0,-1 1 0,1-1 0,-1 1 0,-1 5 0,2 0 0,-2 0 0,1 0 0,-1 0 0,0 0 0,-1-1 0,0 1 0,-1-1 0,-3 10 0,2-11 0,1-1 0,-1 0 0,0 0 0,0-1 0,-1 1 0,0-1 0,0 0 0,0 0 0,0-1 0,-1 1 0,0-1 0,0 0 0,0-1 0,0 1 0,0-1 0,-1-1 0,0 1 0,1-1 0,-14 3 0,18-5 0,0 0 0,0 1 0,0-1 0,0 1 0,-1-1 0,1 1 0,0 0 0,0 0 0,0 0 0,1 0 0,-1 1 0,0-1 0,0 0 0,0 1 0,1-1 0,-1 1 0,1-1 0,-1 1 0,1 0 0,0 0 0,0 0 0,-2 3 0,2-2 0,1 0 0,0 0 0,-1 0 0,1 0 0,0 0 0,0 0 0,1 0 0,-1 1 0,1-1 0,0-1 0,-1 1 0,1 0 0,0 0 0,3 4 0,3 7 0,1 0 0,1-1 0,0 0 0,1-1 0,13 14 0,-15-19-273,1-1 0,-1 1 0,1-1 0,19 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7T16:48:37.1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 24575,'0'-5'0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E13A0A-78B4-F7A5-BD45-E558CF576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7BF74B3-63BC-0A5B-AF52-49C29063E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F7F270-CBE4-6867-0DD5-582BD584E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7F92-1830-41E5-98C5-41EB4F5F1FC0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C0239B-A7B0-E1C5-3FE8-497E5E600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9C1342-9CCB-32FB-1149-71359877B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EC838-B795-494F-AA15-491D4B1EC4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405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0B815E-D80D-EF6A-71B8-C6196C940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66205D-838C-9CB1-290D-2CB5E3D48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B3DC8A-63CC-BF9F-E07B-462C08366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7F92-1830-41E5-98C5-41EB4F5F1FC0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529CC4-94ED-7842-10F7-73366BB31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629B15-3A4B-E4C1-8142-50E8BF986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EC838-B795-494F-AA15-491D4B1EC4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20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CD8B1A-13FA-F074-C1FA-7A893E408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1CC709-C35B-32EB-0CF4-3636664F8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819CF3-6ED3-E730-85CB-8EB1D9B43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7F92-1830-41E5-98C5-41EB4F5F1FC0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5CB2B1-EBFF-E874-FAAA-89CC003C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FAE27B-D408-1886-FC61-97B89419E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EC838-B795-494F-AA15-491D4B1EC4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87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53E219-F14B-94ED-8BF4-D58FB1608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24D8AC-29B2-CE3B-5BBA-1EFDB1D58E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85D49E-5275-9F74-BD19-1D610F1E98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827B57-E42E-24E2-7926-9F5A3938C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7F92-1830-41E5-98C5-41EB4F5F1FC0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6C9EBF-13F4-39E4-1E4B-8FC47500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E33588-37CB-AA5E-CADA-A8135B68A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EC838-B795-494F-AA15-491D4B1EC4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7293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099B7F-53F2-76CE-3297-2E875C047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6E27C9-2912-B454-A798-06119F2DC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5941F93-6F34-88DD-61D8-A64DFBC16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A8ECA4-4FEE-FDCA-212C-59AABD4030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ABAF072-0C84-263F-AC0B-74B70FFD89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7F96ABE-F53C-1666-94C1-5760E927A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7F92-1830-41E5-98C5-41EB4F5F1FC0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C52BC78-2DEA-D09B-DA54-FF5A7904E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B0FC6C-7D6D-FE60-BED4-DD1E75DA1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EC838-B795-494F-AA15-491D4B1EC4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048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786FA7-A249-34B1-1C21-17A5CF0CF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189EC7B-8385-A16A-7A3B-A7731A917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7F92-1830-41E5-98C5-41EB4F5F1FC0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D4A6660-BBCD-C989-6F2F-75C47D4EF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B36D10-56B8-0499-3D0B-4A8E75401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EC838-B795-494F-AA15-491D4B1EC4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072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1CC9324-C71A-9151-2448-9E19737FB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7F92-1830-41E5-98C5-41EB4F5F1FC0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9641397-EDC8-6851-6549-8231FE279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353871-E85C-CE60-E439-851B92D83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EC838-B795-494F-AA15-491D4B1EC4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24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EB5027-241E-EED5-7DA8-7B6FA2D92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7B5B1D-D497-B009-77B1-FCEFDED46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4CF423-1959-A436-C306-5EA3148E8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9BAD84-CE8C-6E33-3B6F-70D137BC4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7F92-1830-41E5-98C5-41EB4F5F1FC0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154AD4-1B64-51C5-CF39-4CE944785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F93CF9-5F2B-DB6B-9E59-D271B1D60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EC838-B795-494F-AA15-491D4B1EC4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054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5F6F2E-1AD3-32D7-7A34-0100AD362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B8476B2-3E25-D91D-9B0F-1C49C913DD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9D4F9E-8CAB-EF52-D24C-0361314B6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FBE696-CAFA-363E-DA3A-B965C825E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7F92-1830-41E5-98C5-41EB4F5F1FC0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A0547D-6AA0-30C0-B5C1-9130C2F4D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CA8B6D-BB00-C9E2-5EAA-3BFFF4DD8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EC838-B795-494F-AA15-491D4B1EC4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698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561A77-F98E-2AF8-4298-5F672CF8A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28EBA9-4812-5B21-BA67-AFE1C5129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9B9060-5331-4F40-E445-7FAA93135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7F92-1830-41E5-98C5-41EB4F5F1FC0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3727C9-E04F-430B-BE19-0EB292495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501D2-2183-540C-6E2C-5BEB3F3F3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EC838-B795-494F-AA15-491D4B1EC4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773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F0DC8AC-BD36-3662-D1CD-B3CE4E639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0DD411-A204-DE3A-987E-436C037314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73A596-C551-FA69-5D48-E901A6056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7F92-1830-41E5-98C5-41EB4F5F1FC0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49976D-7B85-4750-930A-8908BDF34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29860C-BEDF-35C3-15D1-1579E7D51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EC838-B795-494F-AA15-491D4B1EC4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193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88443CC-913B-7B75-F56F-9BF1EDF75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8326B6-ED2B-1A6C-1E6F-AB7A2289A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893FF0-0FB8-EDC8-52FE-673E887D89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6D7F92-1830-41E5-98C5-41EB4F5F1FC0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7EE8D4-2D3C-9762-9D5E-4885911BC0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80FFE8-37B5-F5AA-38BF-FCBE12B03A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6EC838-B795-494F-AA15-491D4B1EC4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90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eg"/><Relationship Id="rId4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5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49.png"/><Relationship Id="rId4" Type="http://schemas.openxmlformats.org/officeDocument/2006/relationships/customXml" Target="../ink/ink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78D1F9-281D-F21F-7D66-BC29CB570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주말에 뭘 했나요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1680CE-246A-D6CD-3183-C5660D06A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283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E97F6-83EA-D496-28ED-9310C8BAE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367BFA-20D8-9889-C4D3-4B9784883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주말에 뭘 했나요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C10D9D-AB34-38EC-8D9A-C8D820C51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 descr="The Best Minecraft Shorts Compilation of 2021!">
            <a:extLst>
              <a:ext uri="{FF2B5EF4-FFF2-40B4-BE49-F238E27FC236}">
                <a16:creationId xmlns:a16="http://schemas.microsoft.com/office/drawing/2014/main" id="{E3566DF4-EDDC-25B1-B752-0C91456EF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58345"/>
            <a:ext cx="4804029" cy="270226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295ED87-7A0F-8374-C71D-E0DAF157B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111" y="2748566"/>
            <a:ext cx="2706180" cy="250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235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3ACA1-ECD1-2702-BF98-CD0E29330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마인크래프트 조합법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F82EA2-66BB-AF90-5D0C-F21FDE630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EDCD9FD-B1EF-373E-15CD-E7B6F2563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297" y="3601659"/>
            <a:ext cx="2476846" cy="13622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DE3A83C-B174-55E8-E14A-4C8FC5659153}"/>
              </a:ext>
            </a:extLst>
          </p:cNvPr>
          <p:cNvSpPr txBox="1"/>
          <p:nvPr/>
        </p:nvSpPr>
        <p:spPr>
          <a:xfrm>
            <a:off x="1655064" y="5175504"/>
            <a:ext cx="2296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금괴 </a:t>
            </a:r>
            <a:r>
              <a:rPr lang="en-US" altLang="ko-KR" dirty="0"/>
              <a:t>x9 = </a:t>
            </a:r>
            <a:r>
              <a:rPr lang="ko-KR" altLang="en-US" dirty="0"/>
              <a:t>금 블록</a:t>
            </a:r>
          </a:p>
        </p:txBody>
      </p:sp>
    </p:spTree>
    <p:extLst>
      <p:ext uri="{BB962C8B-B14F-4D97-AF65-F5344CB8AC3E}">
        <p14:creationId xmlns:p14="http://schemas.microsoft.com/office/powerpoint/2010/main" val="3425750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D0F7D-49F8-4F68-907A-D6F40A44D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B3B620-3989-041F-8648-84978D831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마인크래프트 조합법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372EAB-9CE6-A630-44F1-DB8FF6663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E9747C5-1D3D-456C-8321-5E1427860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5616" y="3525448"/>
            <a:ext cx="2495898" cy="1438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D591B9-D6A5-9BEE-DEDE-A37807E67908}"/>
              </a:ext>
            </a:extLst>
          </p:cNvPr>
          <p:cNvSpPr txBox="1"/>
          <p:nvPr/>
        </p:nvSpPr>
        <p:spPr>
          <a:xfrm>
            <a:off x="7595616" y="5098861"/>
            <a:ext cx="2761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금괴 </a:t>
            </a:r>
            <a:r>
              <a:rPr lang="en-US" altLang="ko-KR" dirty="0"/>
              <a:t>+ </a:t>
            </a:r>
            <a:r>
              <a:rPr lang="ko-KR" altLang="en-US" dirty="0"/>
              <a:t>사과 </a:t>
            </a:r>
            <a:r>
              <a:rPr lang="en-US" altLang="ko-KR" dirty="0"/>
              <a:t>= </a:t>
            </a:r>
            <a:r>
              <a:rPr lang="ko-KR" altLang="en-US" dirty="0"/>
              <a:t>황금 사과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5664B40-3660-615B-770B-7335BD736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297" y="3601659"/>
            <a:ext cx="2476846" cy="13622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443267-2971-C9F1-B9E3-7C0571BF4421}"/>
              </a:ext>
            </a:extLst>
          </p:cNvPr>
          <p:cNvSpPr txBox="1"/>
          <p:nvPr/>
        </p:nvSpPr>
        <p:spPr>
          <a:xfrm>
            <a:off x="1655064" y="5175504"/>
            <a:ext cx="2296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금괴 </a:t>
            </a:r>
            <a:r>
              <a:rPr lang="en-US" altLang="ko-KR" dirty="0"/>
              <a:t>x9 = </a:t>
            </a:r>
            <a:r>
              <a:rPr lang="ko-KR" altLang="en-US" dirty="0"/>
              <a:t>금 블록</a:t>
            </a:r>
          </a:p>
        </p:txBody>
      </p:sp>
    </p:spTree>
    <p:extLst>
      <p:ext uri="{BB962C8B-B14F-4D97-AF65-F5344CB8AC3E}">
        <p14:creationId xmlns:p14="http://schemas.microsoft.com/office/powerpoint/2010/main" val="1295751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46BE23-9C78-1D90-1240-DB3FBE59A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금을 만드는 방법</a:t>
            </a:r>
            <a:r>
              <a:rPr lang="en-US" altLang="ko-KR" dirty="0"/>
              <a:t>(</a:t>
            </a:r>
            <a:r>
              <a:rPr lang="ko-KR" altLang="en-US" dirty="0" err="1"/>
              <a:t>마인크래프트에서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3336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75938-A870-41D8-617A-E1D51A07D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572A3E-7687-4EB9-2233-AE43E0763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금을 만드는 방법</a:t>
            </a:r>
            <a:r>
              <a:rPr lang="en-US" altLang="ko-KR" dirty="0"/>
              <a:t>(</a:t>
            </a:r>
            <a:r>
              <a:rPr lang="ko-KR" altLang="en-US" dirty="0" err="1"/>
              <a:t>마인크래프트에서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" name="그림 3" descr="How to make Gold Ore in Minecraft">
            <a:extLst>
              <a:ext uri="{FF2B5EF4-FFF2-40B4-BE49-F238E27FC236}">
                <a16:creationId xmlns:a16="http://schemas.microsoft.com/office/drawing/2014/main" id="{D10153F3-A78B-BF17-60FF-9D67188C1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23" y="2309820"/>
            <a:ext cx="5149951" cy="28743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FA3493-A242-5780-A361-0A7862F10F09}"/>
              </a:ext>
            </a:extLst>
          </p:cNvPr>
          <p:cNvSpPr txBox="1"/>
          <p:nvPr/>
        </p:nvSpPr>
        <p:spPr>
          <a:xfrm>
            <a:off x="1783081" y="5184211"/>
            <a:ext cx="481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땅을 파야 함</a:t>
            </a:r>
            <a:r>
              <a:rPr lang="en-US" altLang="ko-KR" dirty="0"/>
              <a:t>, </a:t>
            </a:r>
            <a:r>
              <a:rPr lang="ko-KR" altLang="en-US" dirty="0"/>
              <a:t>귀찮음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4654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44036-5706-A8FB-2264-0A7815B6A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112758-E0AA-B148-B452-4E523F5C2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564"/>
            <a:ext cx="10515600" cy="1325563"/>
          </a:xfrm>
        </p:spPr>
        <p:txBody>
          <a:bodyPr/>
          <a:lstStyle/>
          <a:p>
            <a:r>
              <a:rPr lang="ko-KR" altLang="en-US" dirty="0"/>
              <a:t>금을 만드는 방법</a:t>
            </a:r>
            <a:r>
              <a:rPr lang="en-US" altLang="ko-KR" dirty="0"/>
              <a:t>(</a:t>
            </a:r>
            <a:r>
              <a:rPr lang="ko-KR" altLang="en-US" dirty="0"/>
              <a:t>현실에서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" name="그림 3" descr="How to make Gold Ore in Minecraft">
            <a:extLst>
              <a:ext uri="{FF2B5EF4-FFF2-40B4-BE49-F238E27FC236}">
                <a16:creationId xmlns:a16="http://schemas.microsoft.com/office/drawing/2014/main" id="{16DFEBB4-6031-68E2-3C2C-A80EF0555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23" y="2309820"/>
            <a:ext cx="5149951" cy="28743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6E0FCF-76D3-B564-F20B-7475B703372D}"/>
              </a:ext>
            </a:extLst>
          </p:cNvPr>
          <p:cNvSpPr txBox="1"/>
          <p:nvPr/>
        </p:nvSpPr>
        <p:spPr>
          <a:xfrm>
            <a:off x="1783081" y="5184211"/>
            <a:ext cx="481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땅을 파야 함</a:t>
            </a:r>
            <a:r>
              <a:rPr lang="en-US" altLang="ko-KR" dirty="0"/>
              <a:t>, </a:t>
            </a:r>
            <a:r>
              <a:rPr lang="ko-KR" altLang="en-US" dirty="0"/>
              <a:t>귀찮음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8560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22785-4FBF-9365-93DA-E4B834471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6F44FC-38B8-CC38-0C14-A1DF8928F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금을 만드는 방법</a:t>
            </a:r>
            <a:r>
              <a:rPr lang="en-US" altLang="ko-KR" dirty="0"/>
              <a:t>(</a:t>
            </a:r>
            <a:r>
              <a:rPr lang="ko-KR" altLang="en-US" dirty="0"/>
              <a:t>현실에서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" name="그림 3" descr="How to make Gold Ore in Minecraft">
            <a:extLst>
              <a:ext uri="{FF2B5EF4-FFF2-40B4-BE49-F238E27FC236}">
                <a16:creationId xmlns:a16="http://schemas.microsoft.com/office/drawing/2014/main" id="{0E1DE988-3171-B07B-7D63-384B8764D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23" y="2309820"/>
            <a:ext cx="5149951" cy="28743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4463E1-B915-B4B0-309E-9E3AC412A69E}"/>
              </a:ext>
            </a:extLst>
          </p:cNvPr>
          <p:cNvSpPr txBox="1"/>
          <p:nvPr/>
        </p:nvSpPr>
        <p:spPr>
          <a:xfrm>
            <a:off x="1783081" y="5184211"/>
            <a:ext cx="481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땅을 파야 함</a:t>
            </a:r>
            <a:r>
              <a:rPr lang="en-US" altLang="ko-KR" dirty="0"/>
              <a:t>, </a:t>
            </a:r>
            <a:r>
              <a:rPr lang="ko-KR" altLang="en-US" dirty="0"/>
              <a:t>귀찮음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3" name="그림 2" descr="2500톤 규모&quot; 中서 초대형 금광 무더기 발견">
            <a:extLst>
              <a:ext uri="{FF2B5EF4-FFF2-40B4-BE49-F238E27FC236}">
                <a16:creationId xmlns:a16="http://schemas.microsoft.com/office/drawing/2014/main" id="{CAFDEC06-A843-CC92-0554-865AEFFDB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849" y="2309820"/>
            <a:ext cx="5149951" cy="28958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4EA1A4-4CA7-58E3-1E0B-EB1F1584D609}"/>
              </a:ext>
            </a:extLst>
          </p:cNvPr>
          <p:cNvSpPr txBox="1"/>
          <p:nvPr/>
        </p:nvSpPr>
        <p:spPr>
          <a:xfrm>
            <a:off x="7449313" y="5225326"/>
            <a:ext cx="481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땅을 파야 함</a:t>
            </a:r>
            <a:r>
              <a:rPr lang="en-US" altLang="ko-KR" dirty="0"/>
              <a:t>, </a:t>
            </a:r>
            <a:r>
              <a:rPr lang="ko-KR" altLang="en-US" dirty="0"/>
              <a:t>귀찮음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545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00E90E-6203-F71C-993F-9A9C2E3C2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땅을 파기 귀찮아요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2272A4-A3FC-C8CE-9DC9-85A93BD8B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2198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05B6B-24D5-948C-EC6A-680FE471B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357623-83A4-4678-4F3F-5DBC361A7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땅을 파기 귀찮아요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B09369-5C30-34EE-17D0-8584B0F8F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금을 </a:t>
            </a:r>
            <a:r>
              <a:rPr lang="ko-KR" altLang="en-US" b="1" dirty="0"/>
              <a:t>조합</a:t>
            </a:r>
            <a:r>
              <a:rPr lang="ko-KR" altLang="en-US" dirty="0"/>
              <a:t>하면 되는 거 아닌가요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4412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EE90D-0397-FD5D-9350-53A927415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A2FA63-9F58-E7ED-6EE5-A33423F6E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땅을 파기 귀찮아요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82F469-8542-EAC5-E7B2-E783B9CB3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금을 </a:t>
            </a:r>
            <a:r>
              <a:rPr lang="ko-KR" altLang="en-US" b="1" dirty="0"/>
              <a:t>조합</a:t>
            </a:r>
            <a:r>
              <a:rPr lang="ko-KR" altLang="en-US" dirty="0"/>
              <a:t>하면 되는 거 아닌가요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b="1" dirty="0"/>
              <a:t>금을 이루는 재료</a:t>
            </a:r>
            <a:r>
              <a:rPr lang="ko-KR" altLang="en-US" dirty="0"/>
              <a:t>들을 잘 합치면 금이 되지 않을까</a:t>
            </a:r>
            <a:r>
              <a:rPr lang="en-US" altLang="ko-KR" dirty="0"/>
              <a:t>?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4" name="그림 3" descr="Patrick GIFs | Tenor">
            <a:extLst>
              <a:ext uri="{FF2B5EF4-FFF2-40B4-BE49-F238E27FC236}">
                <a16:creationId xmlns:a16="http://schemas.microsoft.com/office/drawing/2014/main" id="{EC92126F-122F-B0E8-C3D1-F438A3CDB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528" y="1690688"/>
            <a:ext cx="192405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054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13EDA2-E735-CF60-2837-BABE81F1B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금은 무엇으로 이루어져 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EAF085-975F-7AC1-2C94-B4ADE4396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2153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B25-7283-225F-6E1F-BB835634F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E1B4BA-44B6-C8DC-E643-B01B2977E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금은 무엇으로 이루어져 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CF90D9-61D6-DECE-FD08-766C26ED4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18D72D-1F09-F369-66EB-789419819E7E}"/>
              </a:ext>
            </a:extLst>
          </p:cNvPr>
          <p:cNvSpPr txBox="1"/>
          <p:nvPr/>
        </p:nvSpPr>
        <p:spPr>
          <a:xfrm>
            <a:off x="1788083" y="2353194"/>
            <a:ext cx="2250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아리스토텔레스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E8E8807-B33D-5416-AA0E-1FCC7B8A4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029" y="2828537"/>
            <a:ext cx="31242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667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2F3CF-5DC6-0193-3768-1764D6760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4436779C-6C7D-7CA8-4431-E9292E4AB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572" y="1168567"/>
            <a:ext cx="5051449" cy="50663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740A2E3-5BA5-0A32-367A-2FA635BA8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금은 무엇으로 이루어져 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9523C587-0815-0F58-F4D9-0211DA5997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38872" y="4851070"/>
            <a:ext cx="1386847" cy="13868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DADE31-025C-24AE-4CD8-5BEAA86FA65B}"/>
              </a:ext>
            </a:extLst>
          </p:cNvPr>
          <p:cNvSpPr txBox="1"/>
          <p:nvPr/>
        </p:nvSpPr>
        <p:spPr>
          <a:xfrm>
            <a:off x="1788083" y="2353194"/>
            <a:ext cx="2250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아리스토텔레스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7E24BAC-E273-97FB-7E13-7EE29C1A9D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918" b="32703"/>
          <a:stretch>
            <a:fillRect/>
          </a:stretch>
        </p:blipFill>
        <p:spPr>
          <a:xfrm>
            <a:off x="8223696" y="1313506"/>
            <a:ext cx="1276528" cy="107290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40C4653-E253-E560-BA38-9D74ED8A3E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1466" y="3015302"/>
            <a:ext cx="1212122" cy="121212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698388D-F2E2-042D-2B02-5B26E695A6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5379" y="2868313"/>
            <a:ext cx="2493204" cy="135911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5BE75B8-B973-5D4B-9B0B-ECBB44C33FFD}"/>
              </a:ext>
            </a:extLst>
          </p:cNvPr>
          <p:cNvSpPr txBox="1"/>
          <p:nvPr/>
        </p:nvSpPr>
        <p:spPr>
          <a:xfrm>
            <a:off x="10301466" y="1591978"/>
            <a:ext cx="1621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4</a:t>
            </a:r>
            <a:r>
              <a:rPr lang="ko-KR" altLang="en-US" sz="2800" dirty="0"/>
              <a:t>원소설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4A92AF46-7CC8-2C9C-08F7-9179A43A0B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5029" y="2828537"/>
            <a:ext cx="31242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931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CE474-DC6C-D96F-3CF7-85976E354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40BB5811-E3FF-78AC-DBDF-8AE3AB35A6F5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6506572" y="1168567"/>
            <a:ext cx="5051449" cy="50663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EB37489-63B5-6D49-60DA-626E35891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금은 무엇으로 이루어져 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E9647084-99ED-D8FD-0579-4FF9298912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grayscl/>
          </a:blip>
          <a:stretch>
            <a:fillRect/>
          </a:stretch>
        </p:blipFill>
        <p:spPr>
          <a:xfrm>
            <a:off x="8338872" y="4851070"/>
            <a:ext cx="1386847" cy="138684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70E3AE1-FD09-83DE-57D9-45E27A98D16A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rcRect t="27918" b="32703"/>
          <a:stretch>
            <a:fillRect/>
          </a:stretch>
        </p:blipFill>
        <p:spPr>
          <a:xfrm>
            <a:off x="8223696" y="1313506"/>
            <a:ext cx="1276528" cy="107290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9B2477C-3F6A-5D01-153B-927E79135B04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10301466" y="3015302"/>
            <a:ext cx="1212122" cy="121212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D0573D1-1F29-3CD9-3C5B-8857D3C47472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5285379" y="2868313"/>
            <a:ext cx="2493204" cy="13591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CC95EF-EBF5-0280-2415-4417D8076D26}"/>
              </a:ext>
            </a:extLst>
          </p:cNvPr>
          <p:cNvSpPr txBox="1"/>
          <p:nvPr/>
        </p:nvSpPr>
        <p:spPr>
          <a:xfrm>
            <a:off x="10301466" y="1591978"/>
            <a:ext cx="1621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4</a:t>
            </a:r>
            <a:r>
              <a:rPr lang="ko-KR" altLang="en-US" sz="2800" dirty="0"/>
              <a:t>원소설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3F500E-5F93-C407-FE6B-CB7DDF364528}"/>
              </a:ext>
            </a:extLst>
          </p:cNvPr>
          <p:cNvSpPr txBox="1"/>
          <p:nvPr/>
        </p:nvSpPr>
        <p:spPr>
          <a:xfrm>
            <a:off x="1788083" y="2353194"/>
            <a:ext cx="2250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아리스토텔레스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F8855FB-913D-226D-8D06-8A25941410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5029" y="2828537"/>
            <a:ext cx="3124200" cy="3810000"/>
          </a:xfrm>
          <a:prstGeom prst="rect">
            <a:avLst/>
          </a:prstGeom>
        </p:spPr>
      </p:pic>
      <p:pic>
        <p:nvPicPr>
          <p:cNvPr id="3" name="그림 2" descr="Patrick GIFs | Tenor">
            <a:extLst>
              <a:ext uri="{FF2B5EF4-FFF2-40B4-BE49-F238E27FC236}">
                <a16:creationId xmlns:a16="http://schemas.microsoft.com/office/drawing/2014/main" id="{F15C68EC-3132-8746-D732-AE629DAD3CC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45436" t="12891" r="27407" b="47021"/>
          <a:stretch>
            <a:fillRect/>
          </a:stretch>
        </p:blipFill>
        <p:spPr>
          <a:xfrm>
            <a:off x="2913498" y="2840760"/>
            <a:ext cx="759017" cy="138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794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3FC178-BB9C-F924-4AB2-3DD225C04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왜 </a:t>
            </a:r>
            <a:r>
              <a:rPr lang="en-US" altLang="ko-KR" dirty="0"/>
              <a:t>4</a:t>
            </a:r>
            <a:r>
              <a:rPr lang="ko-KR" altLang="en-US" dirty="0"/>
              <a:t>원소설이 실패했을까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D5B865-8106-AEF3-6CEB-CEB9A1CEF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 descr="100년에 한 번 나올 천재' 라부아지에, 단두대에서 최후를? &lt; STUDY UP! &lt; 톡톡 &lt; 기사본문 - 에듀진 인터넷 교육신문">
            <a:extLst>
              <a:ext uri="{FF2B5EF4-FFF2-40B4-BE49-F238E27FC236}">
                <a16:creationId xmlns:a16="http://schemas.microsoft.com/office/drawing/2014/main" id="{A20F0245-D9FD-BE52-DC85-EFC1FEFAE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9175" y="450850"/>
            <a:ext cx="2857500" cy="37909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0B3EBB-0B06-1A96-B6F8-FD84852A243A}"/>
              </a:ext>
            </a:extLst>
          </p:cNvPr>
          <p:cNvSpPr txBox="1"/>
          <p:nvPr/>
        </p:nvSpPr>
        <p:spPr>
          <a:xfrm>
            <a:off x="7048500" y="2089666"/>
            <a:ext cx="2543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라부아지에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8434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13FF4-DF9C-9275-36CF-B502FF314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BAC484-FBB8-E33C-5B6A-461C094B0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왜 </a:t>
            </a:r>
            <a:r>
              <a:rPr lang="en-US" altLang="ko-KR" dirty="0"/>
              <a:t>4</a:t>
            </a:r>
            <a:r>
              <a:rPr lang="ko-KR" altLang="en-US" dirty="0"/>
              <a:t>원소설이 실패했을까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8CA90D-44FC-ACC6-3F93-8661234AC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“</a:t>
            </a:r>
            <a:r>
              <a:rPr lang="ko-KR" altLang="en-US" dirty="0"/>
              <a:t>내가 뭔가 해봤는데 물이 공기 두개로 </a:t>
            </a:r>
            <a:r>
              <a:rPr lang="ko-KR" altLang="en-US" b="1" dirty="0"/>
              <a:t>분해</a:t>
            </a:r>
            <a:r>
              <a:rPr lang="ko-KR" altLang="en-US" dirty="0"/>
              <a:t>가 됐다</a:t>
            </a:r>
            <a:r>
              <a:rPr lang="en-US" altLang="ko-KR" dirty="0"/>
              <a:t>”</a:t>
            </a:r>
            <a:endParaRPr lang="ko-KR" altLang="en-US" dirty="0"/>
          </a:p>
        </p:txBody>
      </p:sp>
      <p:pic>
        <p:nvPicPr>
          <p:cNvPr id="4" name="그림 3" descr="100년에 한 번 나올 천재' 라부아지에, 단두대에서 최후를? &lt; STUDY UP! &lt; 톡톡 &lt; 기사본문 - 에듀진 인터넷 교육신문">
            <a:extLst>
              <a:ext uri="{FF2B5EF4-FFF2-40B4-BE49-F238E27FC236}">
                <a16:creationId xmlns:a16="http://schemas.microsoft.com/office/drawing/2014/main" id="{38061C5F-9A32-A6D3-A1C5-87DE6E9E6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9175" y="450850"/>
            <a:ext cx="2857500" cy="37909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C13691-4D9D-168C-2E54-B03B030B57FE}"/>
              </a:ext>
            </a:extLst>
          </p:cNvPr>
          <p:cNvSpPr txBox="1"/>
          <p:nvPr/>
        </p:nvSpPr>
        <p:spPr>
          <a:xfrm>
            <a:off x="7048500" y="2089666"/>
            <a:ext cx="2543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라부아지에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6" name="내용 개체 틀 10">
            <a:extLst>
              <a:ext uri="{FF2B5EF4-FFF2-40B4-BE49-F238E27FC236}">
                <a16:creationId xmlns:a16="http://schemas.microsoft.com/office/drawing/2014/main" id="{7E3C9BCF-44BF-9074-2F96-68D183E60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8198" y="4928060"/>
            <a:ext cx="1383840" cy="138384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E42CC21-61F3-E86A-0761-EF982B7270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954" y="5241543"/>
            <a:ext cx="2493204" cy="135911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020065D-A8AF-DBE8-99AA-45E57A6A1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4817852"/>
            <a:ext cx="2493204" cy="1359111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A2421212-52B6-3983-F673-CF76B0EEB037}"/>
              </a:ext>
            </a:extLst>
          </p:cNvPr>
          <p:cNvSpPr/>
          <p:nvPr/>
        </p:nvSpPr>
        <p:spPr>
          <a:xfrm>
            <a:off x="4643437" y="5203356"/>
            <a:ext cx="1914525" cy="935420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BE43A5-3B7E-8413-B81C-FD4CE798EF03}"/>
              </a:ext>
            </a:extLst>
          </p:cNvPr>
          <p:cNvSpPr txBox="1"/>
          <p:nvPr/>
        </p:nvSpPr>
        <p:spPr>
          <a:xfrm>
            <a:off x="4952999" y="5486400"/>
            <a:ext cx="86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뭔가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0680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B97DF-34DB-38F5-72ED-3C7772DA8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6E447-EE89-AF7B-E1CF-865C43CC4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왜 </a:t>
            </a:r>
            <a:r>
              <a:rPr lang="en-US" altLang="ko-KR" dirty="0"/>
              <a:t>4</a:t>
            </a:r>
            <a:r>
              <a:rPr lang="ko-KR" altLang="en-US" dirty="0"/>
              <a:t>원소설이 실패했을까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D3B459-1E0F-770E-4B40-E782E7C49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“</a:t>
            </a:r>
            <a:r>
              <a:rPr lang="ko-KR" altLang="en-US" dirty="0"/>
              <a:t>내가 뭔가 해봤는데 물이 공기 두개로 </a:t>
            </a:r>
            <a:r>
              <a:rPr lang="ko-KR" altLang="en-US" b="1" dirty="0"/>
              <a:t>분해</a:t>
            </a:r>
            <a:r>
              <a:rPr lang="ko-KR" altLang="en-US" dirty="0"/>
              <a:t>가 됐다</a:t>
            </a:r>
            <a:r>
              <a:rPr lang="en-US" altLang="ko-KR" dirty="0"/>
              <a:t>”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물이 </a:t>
            </a:r>
            <a:r>
              <a:rPr lang="en-US" altLang="ko-KR" dirty="0"/>
              <a:t>‘</a:t>
            </a:r>
            <a:r>
              <a:rPr lang="ko-KR" altLang="en-US" b="1" dirty="0"/>
              <a:t>기본 재료</a:t>
            </a:r>
            <a:r>
              <a:rPr lang="en-US" altLang="ko-KR" dirty="0"/>
              <a:t>’</a:t>
            </a:r>
            <a:r>
              <a:rPr lang="ko-KR" altLang="en-US" dirty="0"/>
              <a:t>가 아닌 것 같다</a:t>
            </a:r>
          </a:p>
        </p:txBody>
      </p:sp>
      <p:pic>
        <p:nvPicPr>
          <p:cNvPr id="6" name="내용 개체 틀 10">
            <a:extLst>
              <a:ext uri="{FF2B5EF4-FFF2-40B4-BE49-F238E27FC236}">
                <a16:creationId xmlns:a16="http://schemas.microsoft.com/office/drawing/2014/main" id="{6EB20C74-EF40-047B-6350-6BF978B8E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073" y="2990794"/>
            <a:ext cx="1383840" cy="138384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7821BC-6E73-BF77-F380-15A59555F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829" y="3304277"/>
            <a:ext cx="2493204" cy="135911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1AAB8D1-D3FE-C299-576D-E038E8214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75" y="2880586"/>
            <a:ext cx="2493204" cy="1359111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A38F2B94-DBD0-0E59-6A16-404F32983A7D}"/>
              </a:ext>
            </a:extLst>
          </p:cNvPr>
          <p:cNvSpPr/>
          <p:nvPr/>
        </p:nvSpPr>
        <p:spPr>
          <a:xfrm>
            <a:off x="4786312" y="3266090"/>
            <a:ext cx="1914525" cy="935420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46D198-F960-AB0B-7324-5C6AD2A38B27}"/>
              </a:ext>
            </a:extLst>
          </p:cNvPr>
          <p:cNvSpPr txBox="1"/>
          <p:nvPr/>
        </p:nvSpPr>
        <p:spPr>
          <a:xfrm>
            <a:off x="5095874" y="3549134"/>
            <a:ext cx="86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뭔가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0801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C4411-05B0-B912-DDAF-D1AA06076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4CF1C5-C97B-2EA3-E4C5-C669364A3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왜 </a:t>
            </a:r>
            <a:r>
              <a:rPr lang="en-US" altLang="ko-KR" dirty="0"/>
              <a:t>4</a:t>
            </a:r>
            <a:r>
              <a:rPr lang="ko-KR" altLang="en-US" dirty="0"/>
              <a:t>원소설이 실패했을까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6E0BD6-8825-C7DF-077D-8F2880D30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“</a:t>
            </a:r>
            <a:r>
              <a:rPr lang="ko-KR" altLang="en-US" dirty="0"/>
              <a:t>내가 뭔가 해봤는데 물이 공기 두개로 </a:t>
            </a:r>
            <a:r>
              <a:rPr lang="ko-KR" altLang="en-US" b="1" dirty="0"/>
              <a:t>분해</a:t>
            </a:r>
            <a:r>
              <a:rPr lang="ko-KR" altLang="en-US" dirty="0"/>
              <a:t>가 됐다</a:t>
            </a:r>
            <a:r>
              <a:rPr lang="en-US" altLang="ko-KR" dirty="0"/>
              <a:t>”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물이 </a:t>
            </a:r>
            <a:r>
              <a:rPr lang="en-US" altLang="ko-KR" dirty="0"/>
              <a:t>‘</a:t>
            </a:r>
            <a:r>
              <a:rPr lang="ko-KR" altLang="en-US" b="1" dirty="0"/>
              <a:t>기본 재료</a:t>
            </a:r>
            <a:r>
              <a:rPr lang="en-US" altLang="ko-KR" dirty="0"/>
              <a:t>’</a:t>
            </a:r>
            <a:r>
              <a:rPr lang="ko-KR" altLang="en-US" dirty="0"/>
              <a:t>가 아닌 것 같다</a:t>
            </a:r>
          </a:p>
        </p:txBody>
      </p:sp>
      <p:pic>
        <p:nvPicPr>
          <p:cNvPr id="6" name="내용 개체 틀 10">
            <a:extLst>
              <a:ext uri="{FF2B5EF4-FFF2-40B4-BE49-F238E27FC236}">
                <a16:creationId xmlns:a16="http://schemas.microsoft.com/office/drawing/2014/main" id="{2BC55E1D-5C8B-A007-0EAA-2DC9DAA27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073" y="2990794"/>
            <a:ext cx="1383840" cy="138384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809441A-BDC8-4FC4-E73F-71FAD8699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829" y="3304277"/>
            <a:ext cx="2493204" cy="135911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C1EA21E-E7E6-1945-2D57-751BC5A9E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75" y="2880586"/>
            <a:ext cx="2493204" cy="1359111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B6EFD1E4-8A86-9878-B33C-96EE530ACE78}"/>
              </a:ext>
            </a:extLst>
          </p:cNvPr>
          <p:cNvSpPr/>
          <p:nvPr/>
        </p:nvSpPr>
        <p:spPr>
          <a:xfrm>
            <a:off x="4786312" y="3266090"/>
            <a:ext cx="1914525" cy="935420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A58C20-194A-195A-8333-5516E7121D36}"/>
              </a:ext>
            </a:extLst>
          </p:cNvPr>
          <p:cNvSpPr txBox="1"/>
          <p:nvPr/>
        </p:nvSpPr>
        <p:spPr>
          <a:xfrm>
            <a:off x="5095874" y="3549134"/>
            <a:ext cx="86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뭔가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5913EC-35C9-67C2-0250-5F7EEACBED1B}"/>
              </a:ext>
            </a:extLst>
          </p:cNvPr>
          <p:cNvSpPr txBox="1"/>
          <p:nvPr/>
        </p:nvSpPr>
        <p:spPr>
          <a:xfrm>
            <a:off x="8601075" y="3304277"/>
            <a:ext cx="92392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highlight>
                  <a:srgbClr val="FFFF00"/>
                </a:highlight>
              </a:rPr>
              <a:t>산소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A3BC23-7102-49FF-A18F-883269A2E1DF}"/>
              </a:ext>
            </a:extLst>
          </p:cNvPr>
          <p:cNvSpPr txBox="1"/>
          <p:nvPr/>
        </p:nvSpPr>
        <p:spPr>
          <a:xfrm>
            <a:off x="9684579" y="3714750"/>
            <a:ext cx="92392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highlight>
                  <a:srgbClr val="FFFF00"/>
                </a:highlight>
              </a:rPr>
              <a:t>수소</a:t>
            </a:r>
          </a:p>
        </p:txBody>
      </p:sp>
    </p:spTree>
    <p:extLst>
      <p:ext uri="{BB962C8B-B14F-4D97-AF65-F5344CB8AC3E}">
        <p14:creationId xmlns:p14="http://schemas.microsoft.com/office/powerpoint/2010/main" val="966172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0ED0F-8BA0-3CBB-B486-C4D171C41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세상의 </a:t>
            </a:r>
            <a:r>
              <a:rPr lang="en-US" altLang="ko-KR" dirty="0"/>
              <a:t>‘</a:t>
            </a:r>
            <a:r>
              <a:rPr lang="ko-KR" altLang="en-US" dirty="0"/>
              <a:t>기본 재료</a:t>
            </a:r>
            <a:r>
              <a:rPr lang="en-US" altLang="ko-KR" dirty="0"/>
              <a:t>’</a:t>
            </a:r>
            <a:r>
              <a:rPr lang="ko-KR" altLang="en-US" dirty="0"/>
              <a:t>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040314-9262-53EE-B107-20FC64412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 err="1"/>
              <a:t>순물질</a:t>
            </a:r>
            <a:r>
              <a:rPr lang="ko-KR" altLang="en-US" dirty="0"/>
              <a:t> 중</a:t>
            </a:r>
            <a:endParaRPr lang="en-US" altLang="ko-KR" dirty="0"/>
          </a:p>
          <a:p>
            <a:endParaRPr lang="en-US" altLang="ko-KR" b="1" dirty="0"/>
          </a:p>
          <a:p>
            <a:endParaRPr lang="ko-KR" altLang="en-US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6703E9-DC35-B774-B605-82B7D8C77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745" y="5510120"/>
            <a:ext cx="1829055" cy="66684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4E44A97-1635-422D-14F9-59FD87280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799" y="1297493"/>
            <a:ext cx="3837826" cy="407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0196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06080-C2A6-B15A-5C14-CA51AACB1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050393-23F0-EA5A-F771-69D99BE33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세상의 </a:t>
            </a:r>
            <a:r>
              <a:rPr lang="en-US" altLang="ko-KR" dirty="0"/>
              <a:t>‘</a:t>
            </a:r>
            <a:r>
              <a:rPr lang="ko-KR" altLang="en-US" dirty="0"/>
              <a:t>기본 재료</a:t>
            </a:r>
            <a:r>
              <a:rPr lang="en-US" altLang="ko-KR" dirty="0"/>
              <a:t>’</a:t>
            </a:r>
            <a:r>
              <a:rPr lang="ko-KR" altLang="en-US" dirty="0"/>
              <a:t>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AE3595-78EF-6EE6-2A9C-0D3272464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 err="1"/>
              <a:t>순물질</a:t>
            </a:r>
            <a:r>
              <a:rPr lang="ko-KR" altLang="en-US" dirty="0"/>
              <a:t> 중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한 종류</a:t>
            </a:r>
            <a:r>
              <a:rPr lang="ko-KR" altLang="en-US" dirty="0"/>
              <a:t>의 입자로만 이루어진 물질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ko-KR" altLang="en-US" b="1" dirty="0"/>
              <a:t>원소</a:t>
            </a:r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ko-KR" altLang="en-US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C9B82B4-230D-9C76-CCE1-6E4109E9A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745" y="5510120"/>
            <a:ext cx="1829055" cy="66684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AE3F1D0-3117-5420-EB8E-063F26EA16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019" t="24242" b="30461"/>
          <a:stretch>
            <a:fillRect/>
          </a:stretch>
        </p:blipFill>
        <p:spPr>
          <a:xfrm>
            <a:off x="10277855" y="2286000"/>
            <a:ext cx="1572769" cy="184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240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1ADE1-65E4-975B-1177-F0C950608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A368F7-AE10-3482-FEF8-6C5C4645C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세상의 </a:t>
            </a:r>
            <a:r>
              <a:rPr lang="en-US" altLang="ko-KR" dirty="0"/>
              <a:t>‘</a:t>
            </a:r>
            <a:r>
              <a:rPr lang="ko-KR" altLang="en-US" dirty="0"/>
              <a:t>기본 재료</a:t>
            </a:r>
            <a:r>
              <a:rPr lang="en-US" altLang="ko-KR" dirty="0"/>
              <a:t>’</a:t>
            </a:r>
            <a:r>
              <a:rPr lang="ko-KR" altLang="en-US" dirty="0"/>
              <a:t>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FA1498-F7DE-A36C-B821-C82EEC2A0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 err="1"/>
              <a:t>순물질</a:t>
            </a:r>
            <a:r>
              <a:rPr lang="ko-KR" altLang="en-US" dirty="0"/>
              <a:t> 중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한 종류</a:t>
            </a:r>
            <a:r>
              <a:rPr lang="ko-KR" altLang="en-US" dirty="0"/>
              <a:t>의 입자로만 이루어진 물질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ko-KR" altLang="en-US" b="1" dirty="0"/>
              <a:t>원소</a:t>
            </a:r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ko-KR" altLang="en-US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0296A98-E02E-E76E-725C-1E325EC4E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745" y="5510120"/>
            <a:ext cx="1829055" cy="66684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307659-9585-179B-BED3-C50C70DB2E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019" t="24242" b="30461"/>
          <a:stretch>
            <a:fillRect/>
          </a:stretch>
        </p:blipFill>
        <p:spPr>
          <a:xfrm>
            <a:off x="10277855" y="2286000"/>
            <a:ext cx="1572769" cy="184708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25300E2-90A8-ADDE-A135-F943D1A3B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4667" y="823846"/>
            <a:ext cx="2355957" cy="154727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A77A10B-2E2B-939D-6E0D-2450FFC7DF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3895" y="830169"/>
            <a:ext cx="2450772" cy="153844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D164CA8-F8CE-6A23-7203-3D509121D7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3411" y="337206"/>
            <a:ext cx="2067213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3875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5998B-BFB8-2057-0D2E-BB59345D1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BB0069-8D20-296E-F6DC-8C57F7CA4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세상의 </a:t>
            </a:r>
            <a:r>
              <a:rPr lang="en-US" altLang="ko-KR" dirty="0"/>
              <a:t>‘</a:t>
            </a:r>
            <a:r>
              <a:rPr lang="ko-KR" altLang="en-US" dirty="0"/>
              <a:t>기본 재료</a:t>
            </a:r>
            <a:r>
              <a:rPr lang="en-US" altLang="ko-KR" dirty="0"/>
              <a:t>’</a:t>
            </a:r>
            <a:r>
              <a:rPr lang="ko-KR" altLang="en-US" dirty="0"/>
              <a:t>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F06FEC-88EF-9AFD-0EEE-19DD8736B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 err="1"/>
              <a:t>순물질</a:t>
            </a:r>
            <a:r>
              <a:rPr lang="ko-KR" altLang="en-US" dirty="0"/>
              <a:t> 중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한 종류</a:t>
            </a:r>
            <a:r>
              <a:rPr lang="ko-KR" altLang="en-US" dirty="0"/>
              <a:t>의 입자로만 이루어진 물질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ko-KR" altLang="en-US" b="1" dirty="0"/>
              <a:t>원소</a:t>
            </a:r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dirty="0"/>
              <a:t>서로 다른 원소는 서로 다른 종류</a:t>
            </a:r>
            <a:endParaRPr lang="en-US" altLang="ko-KR" dirty="0"/>
          </a:p>
          <a:p>
            <a:endParaRPr lang="en-US" altLang="ko-KR" b="1" dirty="0"/>
          </a:p>
          <a:p>
            <a:endParaRPr lang="ko-KR" altLang="en-US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5A61CD7-AC1A-1771-55BC-CCB4D5BDA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745" y="5510120"/>
            <a:ext cx="1829055" cy="66684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C708699-1365-5A71-3ABE-6CF436742E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019" t="24242" b="30461"/>
          <a:stretch>
            <a:fillRect/>
          </a:stretch>
        </p:blipFill>
        <p:spPr>
          <a:xfrm>
            <a:off x="10277855" y="2286000"/>
            <a:ext cx="1572769" cy="184708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BAFA428-BC08-1344-BD0E-48CFAC8BF9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4667" y="823846"/>
            <a:ext cx="2355957" cy="154727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F093BE8-76C1-CCAB-9702-F57431397D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3895" y="830169"/>
            <a:ext cx="2450772" cy="153844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530217E-E43E-0431-7857-47E7EF1200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3411" y="337206"/>
            <a:ext cx="2067213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9048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69E83-AFB8-B45C-D5F8-E3BF73064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원소에는 어떤 것이 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B84A1C-0B06-CA70-E45E-87C492915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ko-KR" altLang="en-US" dirty="0"/>
              <a:t>산소</a:t>
            </a:r>
            <a:r>
              <a:rPr lang="en-US" altLang="ko-KR" dirty="0"/>
              <a:t>, </a:t>
            </a:r>
            <a:r>
              <a:rPr lang="ko-KR" altLang="en-US" dirty="0"/>
              <a:t>수소</a:t>
            </a:r>
            <a:r>
              <a:rPr lang="en-US" altLang="ko-KR" dirty="0"/>
              <a:t>, </a:t>
            </a:r>
            <a:r>
              <a:rPr lang="ko-KR" altLang="en-US" dirty="0"/>
              <a:t>질소</a:t>
            </a:r>
            <a:r>
              <a:rPr lang="en-US" altLang="ko-KR" dirty="0"/>
              <a:t>, </a:t>
            </a:r>
            <a:r>
              <a:rPr lang="ko-KR" altLang="en-US" b="1" dirty="0"/>
              <a:t>금</a:t>
            </a:r>
            <a:r>
              <a:rPr lang="en-US" altLang="ko-KR" dirty="0"/>
              <a:t>, </a:t>
            </a:r>
            <a:r>
              <a:rPr lang="ko-KR" altLang="en-US" dirty="0"/>
              <a:t>구리</a:t>
            </a:r>
            <a:r>
              <a:rPr lang="en-US" altLang="ko-KR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60770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705D2-C27E-67CF-A428-F0B3346BC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8F485F-06AF-5FC8-C77D-6C3FD2B47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원소에는 어떤 것이 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8B87FC-A2F9-4529-8DA2-3305E4921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ko-KR" altLang="en-US" dirty="0"/>
              <a:t>산소</a:t>
            </a:r>
            <a:r>
              <a:rPr lang="en-US" altLang="ko-KR" dirty="0"/>
              <a:t>, </a:t>
            </a:r>
            <a:r>
              <a:rPr lang="ko-KR" altLang="en-US" dirty="0"/>
              <a:t>수소</a:t>
            </a:r>
            <a:r>
              <a:rPr lang="en-US" altLang="ko-KR" dirty="0"/>
              <a:t>, </a:t>
            </a:r>
            <a:r>
              <a:rPr lang="ko-KR" altLang="en-US" dirty="0"/>
              <a:t>질소</a:t>
            </a:r>
            <a:r>
              <a:rPr lang="en-US" altLang="ko-KR" dirty="0"/>
              <a:t>, </a:t>
            </a:r>
            <a:r>
              <a:rPr lang="ko-KR" altLang="en-US" b="1" dirty="0"/>
              <a:t>금</a:t>
            </a:r>
            <a:r>
              <a:rPr lang="en-US" altLang="ko-KR" dirty="0"/>
              <a:t>, </a:t>
            </a:r>
            <a:r>
              <a:rPr lang="ko-KR" altLang="en-US" dirty="0"/>
              <a:t>구리</a:t>
            </a:r>
            <a:r>
              <a:rPr lang="en-US" altLang="ko-KR" dirty="0"/>
              <a:t>…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금은 </a:t>
            </a:r>
            <a:r>
              <a:rPr lang="ko-KR" altLang="en-US" b="1" dirty="0"/>
              <a:t>원소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8631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6B057-33E5-94C1-2629-5C75EFEFD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83B8E0-92BD-567E-DD96-E09363ECC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원소에는 어떤 것이 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0598A3-BD02-A5F5-6629-A45C121AD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ko-KR" altLang="en-US" dirty="0"/>
              <a:t>산소</a:t>
            </a:r>
            <a:r>
              <a:rPr lang="en-US" altLang="ko-KR" dirty="0"/>
              <a:t>, </a:t>
            </a:r>
            <a:r>
              <a:rPr lang="ko-KR" altLang="en-US" dirty="0"/>
              <a:t>수소</a:t>
            </a:r>
            <a:r>
              <a:rPr lang="en-US" altLang="ko-KR" dirty="0"/>
              <a:t>, </a:t>
            </a:r>
            <a:r>
              <a:rPr lang="ko-KR" altLang="en-US" dirty="0"/>
              <a:t>질소</a:t>
            </a:r>
            <a:r>
              <a:rPr lang="en-US" altLang="ko-KR" dirty="0"/>
              <a:t>, </a:t>
            </a:r>
            <a:r>
              <a:rPr lang="ko-KR" altLang="en-US" b="1" dirty="0"/>
              <a:t>금</a:t>
            </a:r>
            <a:r>
              <a:rPr lang="en-US" altLang="ko-KR" dirty="0"/>
              <a:t>, </a:t>
            </a:r>
            <a:r>
              <a:rPr lang="ko-KR" altLang="en-US" dirty="0"/>
              <a:t>구리</a:t>
            </a:r>
            <a:r>
              <a:rPr lang="en-US" altLang="ko-KR" dirty="0"/>
              <a:t>…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금은 </a:t>
            </a:r>
            <a:r>
              <a:rPr lang="ko-KR" altLang="en-US" b="1" dirty="0"/>
              <a:t>원소 ▷</a:t>
            </a:r>
            <a:r>
              <a:rPr lang="ko-KR" altLang="en-US" dirty="0"/>
              <a:t> 다른 원소를 조합해서 만들 수 없음</a:t>
            </a:r>
          </a:p>
        </p:txBody>
      </p:sp>
    </p:spTree>
    <p:extLst>
      <p:ext uri="{BB962C8B-B14F-4D97-AF65-F5344CB8AC3E}">
        <p14:creationId xmlns:p14="http://schemas.microsoft.com/office/powerpoint/2010/main" val="2276793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460AD-BBD0-764C-62DD-E940216B3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3E0082-9821-0D9F-AF5D-D4A662E62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원소를 합치면 무슨 물질이 될까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9B8B64-C994-04EA-6366-6BEE40B75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 err="1"/>
              <a:t>순물질</a:t>
            </a:r>
            <a:r>
              <a:rPr lang="ko-KR" altLang="en-US" b="1" dirty="0"/>
              <a:t> </a:t>
            </a:r>
            <a:r>
              <a:rPr lang="ko-KR" altLang="en-US" dirty="0"/>
              <a:t>중</a:t>
            </a:r>
            <a:endParaRPr lang="en-US" altLang="ko-KR" b="1" dirty="0"/>
          </a:p>
          <a:p>
            <a:endParaRPr lang="ko-KR" altLang="en-US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F94ED8C-CF11-27CC-3A8D-B9B24350F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870" y="2846948"/>
            <a:ext cx="3209718" cy="333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8378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BACC3-214E-4CC8-561E-D1A48575A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05935DE1-8706-ABC5-4058-371D5B6269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259" r="38480" b="62681"/>
          <a:stretch>
            <a:fillRect/>
          </a:stretch>
        </p:blipFill>
        <p:spPr>
          <a:xfrm>
            <a:off x="3225520" y="2846949"/>
            <a:ext cx="200968" cy="124273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458579A-07B3-B0C0-15A6-4EBB4B5BD4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259" t="74133"/>
          <a:stretch>
            <a:fillRect/>
          </a:stretch>
        </p:blipFill>
        <p:spPr>
          <a:xfrm>
            <a:off x="3225520" y="5315578"/>
            <a:ext cx="1436067" cy="86138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59B2FA2-5C93-D0FB-3339-005EBBC88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원소를 합치면 무슨 물질이 될까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89E75F-6704-2A7A-59C9-3162BA10E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 err="1"/>
              <a:t>순물질</a:t>
            </a:r>
            <a:r>
              <a:rPr lang="ko-KR" altLang="en-US" b="1" dirty="0"/>
              <a:t> </a:t>
            </a:r>
            <a:r>
              <a:rPr lang="ko-KR" altLang="en-US" dirty="0"/>
              <a:t>중</a:t>
            </a:r>
            <a:endParaRPr lang="en-US" altLang="ko-KR" b="1" dirty="0"/>
          </a:p>
          <a:p>
            <a:r>
              <a:rPr lang="ko-KR" altLang="en-US" b="1" dirty="0"/>
              <a:t>서로 다른</a:t>
            </a:r>
            <a:r>
              <a:rPr lang="ko-KR" altLang="en-US" dirty="0"/>
              <a:t> 종류</a:t>
            </a:r>
            <a:r>
              <a:rPr lang="en-US" altLang="ko-KR" dirty="0"/>
              <a:t>(</a:t>
            </a:r>
            <a:r>
              <a:rPr lang="ko-KR" altLang="en-US" dirty="0"/>
              <a:t>원소</a:t>
            </a:r>
            <a:r>
              <a:rPr lang="en-US" altLang="ko-KR" dirty="0"/>
              <a:t>)</a:t>
            </a:r>
            <a:r>
              <a:rPr lang="ko-KR" altLang="en-US" dirty="0"/>
              <a:t>의 입자로 이루어진 물질 </a:t>
            </a:r>
            <a:r>
              <a:rPr lang="en-US" altLang="ko-KR" dirty="0"/>
              <a:t>= </a:t>
            </a:r>
            <a:r>
              <a:rPr lang="ko-KR" altLang="en-US" b="1" dirty="0"/>
              <a:t>화합물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447F343-3842-C97A-0D2C-3009E258AE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399" r="44741" b="-1"/>
          <a:stretch>
            <a:fillRect/>
          </a:stretch>
        </p:blipFill>
        <p:spPr>
          <a:xfrm>
            <a:off x="1451870" y="2833635"/>
            <a:ext cx="1773651" cy="334332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838EBE8-2D01-0CFB-D7D4-C443ECA0C1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259" t="66589" r="31593" b="25868"/>
          <a:stretch>
            <a:fillRect/>
          </a:stretch>
        </p:blipFill>
        <p:spPr>
          <a:xfrm>
            <a:off x="3225520" y="5064369"/>
            <a:ext cx="422032" cy="25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4044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5031F-E80D-F03B-5F91-8FF880EE0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437AFA-BAC2-6E1E-FD2F-E827841A9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원소를 합치면 무슨 물질이 될까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B303F2-654C-9E20-69F1-970F22B78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 err="1"/>
              <a:t>순물질</a:t>
            </a:r>
            <a:r>
              <a:rPr lang="ko-KR" altLang="en-US" b="1" dirty="0"/>
              <a:t> </a:t>
            </a:r>
            <a:r>
              <a:rPr lang="ko-KR" altLang="en-US" dirty="0"/>
              <a:t>중</a:t>
            </a:r>
            <a:endParaRPr lang="en-US" altLang="ko-KR" b="1" dirty="0"/>
          </a:p>
          <a:p>
            <a:r>
              <a:rPr lang="ko-KR" altLang="en-US" b="1" dirty="0"/>
              <a:t>서로 다른</a:t>
            </a:r>
            <a:r>
              <a:rPr lang="ko-KR" altLang="en-US" dirty="0"/>
              <a:t> 종류</a:t>
            </a:r>
            <a:r>
              <a:rPr lang="en-US" altLang="ko-KR" dirty="0"/>
              <a:t>(</a:t>
            </a:r>
            <a:r>
              <a:rPr lang="ko-KR" altLang="en-US" dirty="0"/>
              <a:t>원소</a:t>
            </a:r>
            <a:r>
              <a:rPr lang="en-US" altLang="ko-KR" dirty="0"/>
              <a:t>)</a:t>
            </a:r>
            <a:r>
              <a:rPr lang="ko-KR" altLang="en-US" dirty="0"/>
              <a:t>의 입자로 이루어진 물질 </a:t>
            </a:r>
            <a:r>
              <a:rPr lang="en-US" altLang="ko-KR" dirty="0"/>
              <a:t>= </a:t>
            </a:r>
            <a:r>
              <a:rPr lang="ko-KR" altLang="en-US" b="1" dirty="0"/>
              <a:t>화합물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5FC21A6-C125-2C1E-B49B-C8013BED9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702" y="3126960"/>
            <a:ext cx="4973097" cy="305000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333A9B3-3965-BBA7-3B41-B5A7A81142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259" r="38480" b="62681"/>
          <a:stretch>
            <a:fillRect/>
          </a:stretch>
        </p:blipFill>
        <p:spPr>
          <a:xfrm>
            <a:off x="3225520" y="2846949"/>
            <a:ext cx="200968" cy="124273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D2BADC6-242E-35AD-5CE1-46050AEA23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259" t="74133"/>
          <a:stretch>
            <a:fillRect/>
          </a:stretch>
        </p:blipFill>
        <p:spPr>
          <a:xfrm>
            <a:off x="3225520" y="5315578"/>
            <a:ext cx="1436067" cy="86138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A4AC6B1-CD08-A945-1CE5-E3D83742ED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399" r="44741" b="-1"/>
          <a:stretch>
            <a:fillRect/>
          </a:stretch>
        </p:blipFill>
        <p:spPr>
          <a:xfrm>
            <a:off x="1451870" y="2833635"/>
            <a:ext cx="1773651" cy="334332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68BDCDC-6C34-D8D2-E10B-544AD3933F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259" t="66589" r="31593" b="25868"/>
          <a:stretch>
            <a:fillRect/>
          </a:stretch>
        </p:blipFill>
        <p:spPr>
          <a:xfrm>
            <a:off x="3225520" y="5064369"/>
            <a:ext cx="422032" cy="25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747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C77DF6-CD2E-6DE4-5680-3C4FA5FF2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마인크래프트로</a:t>
            </a:r>
            <a:r>
              <a:rPr lang="ko-KR" altLang="en-US" dirty="0"/>
              <a:t> 비유하면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221F6D-D3D3-0E8C-0428-890B3D0CF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" name="그림 3" descr="틀:마인크래프트/제작대 - 나무위키">
            <a:extLst>
              <a:ext uri="{FF2B5EF4-FFF2-40B4-BE49-F238E27FC236}">
                <a16:creationId xmlns:a16="http://schemas.microsoft.com/office/drawing/2014/main" id="{3E71D340-A34E-DA74-DA68-046BEC00E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899" y="2574429"/>
            <a:ext cx="4939509" cy="2836880"/>
          </a:xfrm>
          <a:prstGeom prst="rect">
            <a:avLst/>
          </a:prstGeom>
        </p:spPr>
      </p:pic>
      <p:pic>
        <p:nvPicPr>
          <p:cNvPr id="5" name="그림 4" descr="투명한 배경에 고립된 염소, 염소 프로필, 동물 실루엣, 한 지방 PNG 일러스트 및 이미지 에 대한 무료 다운로드 - Pngtree">
            <a:extLst>
              <a:ext uri="{FF2B5EF4-FFF2-40B4-BE49-F238E27FC236}">
                <a16:creationId xmlns:a16="http://schemas.microsoft.com/office/drawing/2014/main" id="{D6CB83DE-5107-E11D-9DE6-A4AB66158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083" y="3584025"/>
            <a:ext cx="864159" cy="86415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8F51AAA-D091-F3FC-8B9E-F080AE66A9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166" r="9925"/>
          <a:stretch>
            <a:fillRect/>
          </a:stretch>
        </p:blipFill>
        <p:spPr>
          <a:xfrm>
            <a:off x="5150243" y="3584025"/>
            <a:ext cx="723480" cy="79623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2ECFA18-4F3F-89A6-CD2C-67D7F458C8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3041" t="18768" r="1" b="18358"/>
          <a:stretch>
            <a:fillRect/>
          </a:stretch>
        </p:blipFill>
        <p:spPr>
          <a:xfrm>
            <a:off x="6846786" y="3391287"/>
            <a:ext cx="1127044" cy="117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6732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49E4A-7931-5FD8-2B45-525BD22FE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2134CC-BFE3-B90C-7F5B-A04766FED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마인크래프트로</a:t>
            </a:r>
            <a:r>
              <a:rPr lang="ko-KR" altLang="en-US" dirty="0"/>
              <a:t> 비유하면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C78BA1-3066-C156-3F90-4027B28C8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" name="그림 3" descr="틀:마인크래프트/제작대 - 나무위키">
            <a:extLst>
              <a:ext uri="{FF2B5EF4-FFF2-40B4-BE49-F238E27FC236}">
                <a16:creationId xmlns:a16="http://schemas.microsoft.com/office/drawing/2014/main" id="{DDD28A0B-936A-1334-EF07-7F9C56946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899" y="2574429"/>
            <a:ext cx="4939509" cy="283688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46FE9E5-128B-C9FC-5FE6-F1FFDA6A29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66" r="9925"/>
          <a:stretch>
            <a:fillRect/>
          </a:stretch>
        </p:blipFill>
        <p:spPr>
          <a:xfrm>
            <a:off x="5150243" y="3584025"/>
            <a:ext cx="723480" cy="79623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CC85A36-FDA1-7C9C-3F04-00987A2113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041" t="18768" r="1" b="18358"/>
          <a:stretch>
            <a:fillRect/>
          </a:stretch>
        </p:blipFill>
        <p:spPr>
          <a:xfrm>
            <a:off x="6846786" y="3391287"/>
            <a:ext cx="1127044" cy="117587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A0FF419-3FBE-D80F-FF31-5BB7936223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639" t="10897" r="21374" b="12670"/>
          <a:stretch>
            <a:fillRect/>
          </a:stretch>
        </p:blipFill>
        <p:spPr>
          <a:xfrm>
            <a:off x="4329285" y="3596815"/>
            <a:ext cx="733058" cy="76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1830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4991CB-9D73-484D-8C9E-C555C54CC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원소는 어떤 것이 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CA5862-D0F9-FE58-FD91-5C632637D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현재까지 </a:t>
            </a:r>
            <a:r>
              <a:rPr lang="en-US" altLang="ko-KR" dirty="0"/>
              <a:t>118</a:t>
            </a:r>
            <a:r>
              <a:rPr lang="ko-KR" altLang="en-US" dirty="0"/>
              <a:t>가지의 원소가 알려져 있음</a:t>
            </a:r>
          </a:p>
        </p:txBody>
      </p:sp>
    </p:spTree>
    <p:extLst>
      <p:ext uri="{BB962C8B-B14F-4D97-AF65-F5344CB8AC3E}">
        <p14:creationId xmlns:p14="http://schemas.microsoft.com/office/powerpoint/2010/main" val="17619529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6BEC7-6F15-7A3E-B134-D85021116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E2E44D-2568-3C00-AD6F-4E03584DE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원소는 어떤 것이 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DF0E1C-213C-6F58-62FF-421AD0C97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현재까지 </a:t>
            </a:r>
            <a:r>
              <a:rPr lang="en-US" altLang="ko-KR" dirty="0"/>
              <a:t>118</a:t>
            </a:r>
            <a:r>
              <a:rPr lang="ko-KR" altLang="en-US" dirty="0"/>
              <a:t>가지의 원소가 알려져 있음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77EAE68-BE7D-6749-5F9B-CAAA3E386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567" y="2497800"/>
            <a:ext cx="7043589" cy="36791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DAE5AE-AC47-BD50-9EB2-2E742D431CE4}"/>
              </a:ext>
            </a:extLst>
          </p:cNvPr>
          <p:cNvSpPr txBox="1"/>
          <p:nvPr/>
        </p:nvSpPr>
        <p:spPr>
          <a:xfrm>
            <a:off x="8279842" y="2883877"/>
            <a:ext cx="2080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◁ 주기율표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 err="1"/>
              <a:t>스포일러임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204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C6930-F574-A04D-2853-DC02F819B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D5B28A-796A-7F24-BB90-F5B4B0202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 알 필요 </a:t>
            </a:r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602964-8F1F-081E-2E7A-285DAABE8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9C88B10-BBBC-D670-A1CB-4E8FE4409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40542" cy="394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8315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15144-9385-B480-25BB-98F32E834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8361C1-49E8-A828-787B-B415C39E8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 알 필요 </a:t>
            </a:r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6656DB-F091-4861-FD0D-0D23B3214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17B0427-25AB-8BF6-341C-52E4CC48C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8557009" cy="436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1701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8F27E-2F5B-1197-AD05-5407D58A4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Gemini</a:t>
            </a:r>
            <a:r>
              <a:rPr lang="ko-KR" altLang="en-US" dirty="0"/>
              <a:t>의 추천 목록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AF2F74-1D0A-7304-397A-5E5F2B545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66C580-4F45-C42E-6621-D69E492A0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6"/>
            <a:ext cx="8325897" cy="4349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6125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ABF9A-6413-2AE6-490E-0B76B9E57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6FA9DA-4588-4733-3337-15D5C9F55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Gemini</a:t>
            </a:r>
            <a:r>
              <a:rPr lang="ko-KR" altLang="en-US" dirty="0"/>
              <a:t>의 추천 목록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0C6484-1B67-956D-4494-04EFD1A3C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C99CE4C-62DA-EA41-64C1-77A7031CE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6"/>
            <a:ext cx="8325897" cy="434995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B134040-8ABF-614D-1BAC-9058257A2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992" y="1793684"/>
            <a:ext cx="6331674" cy="4413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0948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BD42F6-B80F-5847-F128-283589D79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교과서의 추천 목록</a:t>
            </a:r>
            <a:r>
              <a:rPr lang="en-US" altLang="ko-KR" dirty="0"/>
              <a:t>(</a:t>
            </a:r>
            <a:r>
              <a:rPr lang="ko-KR" altLang="en-US" dirty="0"/>
              <a:t>아님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8993A9-764E-A5A4-A126-CB825B657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88D017-2D41-5A8F-2CAB-68869B3F9B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305"/>
          <a:stretch>
            <a:fillRect/>
          </a:stretch>
        </p:blipFill>
        <p:spPr>
          <a:xfrm>
            <a:off x="838200" y="1816065"/>
            <a:ext cx="8519154" cy="391149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412D605-D047-6D08-6473-A384789DD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191" y="5142149"/>
            <a:ext cx="2006772" cy="59497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C05BEF0-EA6C-AAA6-A077-D650FD343B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049" y="2013095"/>
            <a:ext cx="731138" cy="51908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96AB337-4E64-323E-3A1E-63A31AB5FA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407" y="2013095"/>
            <a:ext cx="731138" cy="51908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691D52D-77C8-837B-5644-7BB3213144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319" y="2013095"/>
            <a:ext cx="731138" cy="51908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7256B48-C1E7-1A35-D255-63C71E84C7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4334" y="2085914"/>
            <a:ext cx="631284" cy="49978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8D86008-006E-78F1-9466-FB8266DAE8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4560" y="2085914"/>
            <a:ext cx="631284" cy="49978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FDCA2B30-B2D2-8130-EE14-86DE3CC758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4787" y="2080642"/>
            <a:ext cx="631284" cy="49978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DB9F22D-A253-F322-FE7C-A78B03321D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049" y="4657691"/>
            <a:ext cx="731138" cy="519089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96C150D9-B4D1-F2BE-BD5B-99423643A3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407" y="4657691"/>
            <a:ext cx="731138" cy="51908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447414C-70CF-394F-9E57-0B95E3987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319" y="4657691"/>
            <a:ext cx="731138" cy="519089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4A95D0F8-1FD8-B544-90A5-90DC611455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4334" y="4730510"/>
            <a:ext cx="631284" cy="49978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0F8C0D2E-4BE1-5F9E-CB64-503FF64F99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4560" y="4730510"/>
            <a:ext cx="731138" cy="499782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F85190CF-7A3C-8335-9693-5A6FB93374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4787" y="4725238"/>
            <a:ext cx="631284" cy="499782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5A1CA4C3-D482-0ADE-6E27-7111FEADE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3063" y="3329420"/>
            <a:ext cx="731138" cy="519089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66A36A26-2FF3-0C50-2A84-F8E4862C8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862" y="3281180"/>
            <a:ext cx="731138" cy="519089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13489BCC-0CF3-C306-D729-E515691656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877" y="3353999"/>
            <a:ext cx="631284" cy="499782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A6AC28BA-5583-1D0E-AD0B-5B6D80B7AC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407" y="3375404"/>
            <a:ext cx="731136" cy="499782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02EAE5C4-231D-ADA9-8423-039037527E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3330" y="3348727"/>
            <a:ext cx="631284" cy="499782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E9867581-6B1F-741E-BB3D-A4667C027D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4933" y="3375404"/>
            <a:ext cx="731138" cy="51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2417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F44EF1-042C-B9B9-6A9A-5D8FF2465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조합법을 알아보자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B429CA-B8F3-DBD3-85C4-BD8359CF5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4E0AB8F-D61B-5B46-92DC-775695B150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109"/>
          <a:stretch>
            <a:fillRect/>
          </a:stretch>
        </p:blipFill>
        <p:spPr>
          <a:xfrm>
            <a:off x="752856" y="3002279"/>
            <a:ext cx="6598618" cy="317468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B4CD82C-CA97-9CCC-4DB1-4DD6507CB9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119"/>
          <a:stretch>
            <a:fillRect/>
          </a:stretch>
        </p:blipFill>
        <p:spPr>
          <a:xfrm>
            <a:off x="752856" y="1568707"/>
            <a:ext cx="5337048" cy="460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5412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51882-79A3-4095-8A8A-FFA18C48D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196D1E-0900-6130-9E0D-FE1D9763B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조합법을 알아보자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386D89-31D6-34B9-53E2-CF9967CCA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9263221-5D4E-63C8-0482-36A4A0FDBF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109"/>
          <a:stretch>
            <a:fillRect/>
          </a:stretch>
        </p:blipFill>
        <p:spPr>
          <a:xfrm>
            <a:off x="752856" y="3002279"/>
            <a:ext cx="6598618" cy="317468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A48DF9D-1773-D422-72F7-AFBA6FF2F6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119"/>
          <a:stretch>
            <a:fillRect/>
          </a:stretch>
        </p:blipFill>
        <p:spPr>
          <a:xfrm>
            <a:off x="752856" y="1568707"/>
            <a:ext cx="5337048" cy="4608256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612D1DA3-7EF0-CB92-AAAA-89E8BFF530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2"/>
          <a:stretch>
            <a:fillRect/>
          </a:stretch>
        </p:blipFill>
        <p:spPr>
          <a:xfrm>
            <a:off x="6300690" y="1568707"/>
            <a:ext cx="5053110" cy="234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3531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4A76E-638D-ADF2-6283-5B6674574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7A372A-2615-F49A-1439-F4B431C0F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조합법을 알아보자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204D52-40AD-140A-2005-20C081F90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7B4EF91-F9F9-6255-67EA-672C622B22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109"/>
          <a:stretch>
            <a:fillRect/>
          </a:stretch>
        </p:blipFill>
        <p:spPr>
          <a:xfrm>
            <a:off x="752856" y="3002279"/>
            <a:ext cx="6598618" cy="317468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8A42C9A-F9F8-A159-09FB-EB554778EE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119"/>
          <a:stretch>
            <a:fillRect/>
          </a:stretch>
        </p:blipFill>
        <p:spPr>
          <a:xfrm>
            <a:off x="752856" y="1568707"/>
            <a:ext cx="5337048" cy="4608256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AF3DFC6A-A10E-8499-999E-63FD2B27F1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2"/>
          <a:stretch>
            <a:fillRect/>
          </a:stretch>
        </p:blipFill>
        <p:spPr>
          <a:xfrm>
            <a:off x="6300690" y="1568707"/>
            <a:ext cx="5053110" cy="234813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2EBEB31-87D2-CCC1-FF4C-9FCCCE98B740}"/>
              </a:ext>
            </a:extLst>
          </p:cNvPr>
          <p:cNvSpPr/>
          <p:nvPr/>
        </p:nvSpPr>
        <p:spPr>
          <a:xfrm>
            <a:off x="1165609" y="3002279"/>
            <a:ext cx="1477107" cy="10371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 descr="요동치는 드라이아이스 수급… 코로나 백신·신선 식품↑보랭팩 무상 제공↓ - 소비라이프">
            <a:extLst>
              <a:ext uri="{FF2B5EF4-FFF2-40B4-BE49-F238E27FC236}">
                <a16:creationId xmlns:a16="http://schemas.microsoft.com/office/drawing/2014/main" id="{912B75B2-CD21-4877-E91A-D3027E9BEE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004" y="4346485"/>
            <a:ext cx="2287376" cy="152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0997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4875A-A9FB-693F-91B8-77D749AFA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5431C7-BA10-182F-8C44-082B0A856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조합법을 알아보자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8EC65F-B349-06EE-0542-31042F31F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7A9F47F-F558-BB58-1B81-A28609C8A1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109"/>
          <a:stretch>
            <a:fillRect/>
          </a:stretch>
        </p:blipFill>
        <p:spPr>
          <a:xfrm>
            <a:off x="752856" y="3002279"/>
            <a:ext cx="6598618" cy="317468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91C1A62-BF31-0562-0E1D-18F9E96029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119"/>
          <a:stretch>
            <a:fillRect/>
          </a:stretch>
        </p:blipFill>
        <p:spPr>
          <a:xfrm>
            <a:off x="752856" y="1568707"/>
            <a:ext cx="5337048" cy="4608256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6715747A-9112-39DB-F06D-D9603C4026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2"/>
          <a:stretch>
            <a:fillRect/>
          </a:stretch>
        </p:blipFill>
        <p:spPr>
          <a:xfrm>
            <a:off x="6300690" y="1568707"/>
            <a:ext cx="5053110" cy="234813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3C2A911-979E-679A-8333-E2B58B32FC5B}"/>
              </a:ext>
            </a:extLst>
          </p:cNvPr>
          <p:cNvSpPr/>
          <p:nvPr/>
        </p:nvSpPr>
        <p:spPr>
          <a:xfrm>
            <a:off x="1165609" y="3002279"/>
            <a:ext cx="1477107" cy="10371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9EB28D27-146E-00CF-39CA-F77DCDB4E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6189" y="4051781"/>
            <a:ext cx="591075" cy="631838"/>
          </a:xfrm>
          <a:prstGeom prst="rect">
            <a:avLst/>
          </a:prstGeom>
        </p:spPr>
      </p:pic>
      <p:sp>
        <p:nvSpPr>
          <p:cNvPr id="31" name="타원 30">
            <a:extLst>
              <a:ext uri="{FF2B5EF4-FFF2-40B4-BE49-F238E27FC236}">
                <a16:creationId xmlns:a16="http://schemas.microsoft.com/office/drawing/2014/main" id="{44DB6C41-89CE-FBA7-8244-67FD34FFC260}"/>
              </a:ext>
            </a:extLst>
          </p:cNvPr>
          <p:cNvSpPr/>
          <p:nvPr/>
        </p:nvSpPr>
        <p:spPr>
          <a:xfrm>
            <a:off x="9601200" y="1504011"/>
            <a:ext cx="877824" cy="87782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8F9A6CF2-1FA0-D199-6D16-A8CFEB01E5EC}"/>
              </a:ext>
            </a:extLst>
          </p:cNvPr>
          <p:cNvSpPr/>
          <p:nvPr/>
        </p:nvSpPr>
        <p:spPr>
          <a:xfrm>
            <a:off x="7104435" y="3928788"/>
            <a:ext cx="877824" cy="87782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3" name="그림 32" descr="요동치는 드라이아이스 수급… 코로나 백신·신선 식품↑보랭팩 무상 제공↓ - 소비라이프">
            <a:extLst>
              <a:ext uri="{FF2B5EF4-FFF2-40B4-BE49-F238E27FC236}">
                <a16:creationId xmlns:a16="http://schemas.microsoft.com/office/drawing/2014/main" id="{F75600E7-0918-DD53-E41F-2D5B012E12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4004" y="4346485"/>
            <a:ext cx="2287376" cy="152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3521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BB3BC-BD2C-526B-4793-384B98929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5EF244-80F1-470D-6C14-8A2DEF781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조합법을 알아보자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73A9DB-4AF5-4073-3D45-20D58F69E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5054FC5-A491-8B17-B0DD-4088EC47B8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109"/>
          <a:stretch>
            <a:fillRect/>
          </a:stretch>
        </p:blipFill>
        <p:spPr>
          <a:xfrm>
            <a:off x="752856" y="3002279"/>
            <a:ext cx="6598618" cy="317468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7F6EE2F-B59F-2141-BE9B-D2C82C85C4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119"/>
          <a:stretch>
            <a:fillRect/>
          </a:stretch>
        </p:blipFill>
        <p:spPr>
          <a:xfrm>
            <a:off x="752856" y="1568707"/>
            <a:ext cx="5337048" cy="4608256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12E890C6-9DCE-D89E-BEF2-EE30F423D1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2"/>
          <a:stretch>
            <a:fillRect/>
          </a:stretch>
        </p:blipFill>
        <p:spPr>
          <a:xfrm>
            <a:off x="6300690" y="1568707"/>
            <a:ext cx="5053110" cy="234813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CEC0C19-E336-114E-6ABD-9D852B7C7F57}"/>
              </a:ext>
            </a:extLst>
          </p:cNvPr>
          <p:cNvSpPr/>
          <p:nvPr/>
        </p:nvSpPr>
        <p:spPr>
          <a:xfrm>
            <a:off x="4366009" y="2910421"/>
            <a:ext cx="1477107" cy="10371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DA71A3B-55C6-4370-9C54-2C791A588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6189" y="4051781"/>
            <a:ext cx="591075" cy="63183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3A26928-8BB7-84C5-25B5-0BFEC9D7ED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7637" y="4176363"/>
            <a:ext cx="1829055" cy="18957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33E1C69-5F74-DD2B-D8AA-3EA2ED0D8E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6692" y="4176363"/>
            <a:ext cx="2025585" cy="189574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82A9AFE6-268D-E793-A8BC-F2B616A46B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2171401"/>
            <a:ext cx="3255473" cy="177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6854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75E3F-C5F9-EC0A-B32F-5955D877F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4B6596-01A7-7830-89DB-6445B7DD7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조합법을 알아보자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8A2A92-29C8-4BB3-CB3F-02E638A20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A9421C8-DBB1-8BA4-FDFE-B779DA7C72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109"/>
          <a:stretch>
            <a:fillRect/>
          </a:stretch>
        </p:blipFill>
        <p:spPr>
          <a:xfrm>
            <a:off x="752856" y="3002279"/>
            <a:ext cx="6598618" cy="317468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DA55DA8-0510-E61B-53D0-4017D68148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119"/>
          <a:stretch>
            <a:fillRect/>
          </a:stretch>
        </p:blipFill>
        <p:spPr>
          <a:xfrm>
            <a:off x="752856" y="1568707"/>
            <a:ext cx="5337048" cy="4608256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1387E102-6078-CBC1-15AB-A8E7627CE3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2"/>
          <a:stretch>
            <a:fillRect/>
          </a:stretch>
        </p:blipFill>
        <p:spPr>
          <a:xfrm>
            <a:off x="6300690" y="1568707"/>
            <a:ext cx="5053110" cy="234813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89B7ADE-84AF-5DEA-186A-8132FBFD6F8F}"/>
              </a:ext>
            </a:extLst>
          </p:cNvPr>
          <p:cNvSpPr/>
          <p:nvPr/>
        </p:nvSpPr>
        <p:spPr>
          <a:xfrm>
            <a:off x="4366009" y="2910421"/>
            <a:ext cx="1477107" cy="10371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F8AC2BC-0A06-772E-729D-32543C1FC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6189" y="4051781"/>
            <a:ext cx="591075" cy="631838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DE2772BB-0639-FBD2-AF66-B6DCF60B7AF0}"/>
              </a:ext>
            </a:extLst>
          </p:cNvPr>
          <p:cNvSpPr/>
          <p:nvPr/>
        </p:nvSpPr>
        <p:spPr>
          <a:xfrm>
            <a:off x="7092814" y="3928788"/>
            <a:ext cx="877824" cy="87782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68CBC24-8FEB-62DB-319D-C3A4C6FFEB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7637" y="4176363"/>
            <a:ext cx="1829055" cy="18957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4631C4A-2B52-1CB4-0362-713B120D56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6692" y="4176363"/>
            <a:ext cx="2025585" cy="189574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D1098AB-377A-2EE4-32A4-85846334CE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2171401"/>
            <a:ext cx="3255473" cy="177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0921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362DF-92C5-CD73-3C35-6AAA06AEB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8E79D1-3064-C14E-BCB3-61D826CEF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조합법을 알아보자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948606-22D4-0737-448E-BB4A51971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978774B-2243-1606-3868-8514D84920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109"/>
          <a:stretch>
            <a:fillRect/>
          </a:stretch>
        </p:blipFill>
        <p:spPr>
          <a:xfrm>
            <a:off x="752856" y="3002279"/>
            <a:ext cx="6598618" cy="317468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8EB859B-9F76-E832-5712-E70F6676EA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119"/>
          <a:stretch>
            <a:fillRect/>
          </a:stretch>
        </p:blipFill>
        <p:spPr>
          <a:xfrm>
            <a:off x="752856" y="1568707"/>
            <a:ext cx="5337048" cy="4608256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15DCEBB6-1F7A-1059-A0E1-8E6B32EEC8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2"/>
          <a:stretch>
            <a:fillRect/>
          </a:stretch>
        </p:blipFill>
        <p:spPr>
          <a:xfrm>
            <a:off x="6300690" y="1568707"/>
            <a:ext cx="5053110" cy="234813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175A34B-EE6B-6E02-7059-6B9CB9F202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6189" y="4051781"/>
            <a:ext cx="591075" cy="6318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C9F447-4B40-1F37-FB63-8014F31F38F1}"/>
              </a:ext>
            </a:extLst>
          </p:cNvPr>
          <p:cNvSpPr txBox="1"/>
          <p:nvPr/>
        </p:nvSpPr>
        <p:spPr>
          <a:xfrm>
            <a:off x="339701" y="1446877"/>
            <a:ext cx="6035040" cy="33547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algn="ctr"/>
            <a:r>
              <a:rPr lang="en-US" altLang="ko-KR" sz="3200" dirty="0"/>
              <a:t>Q. </a:t>
            </a:r>
            <a:r>
              <a:rPr lang="ko-KR" altLang="en-US" sz="3200" dirty="0"/>
              <a:t>흑연의 경우에는</a:t>
            </a:r>
            <a:r>
              <a:rPr lang="en-US" altLang="ko-KR" sz="3200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B0FF547-3EEA-B064-E495-5C5CCA441B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8701" y="3916844"/>
            <a:ext cx="2552306" cy="1593368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5CC0C6A9-09E3-15F3-1BAE-6BB0B6B15F0A}"/>
              </a:ext>
            </a:extLst>
          </p:cNvPr>
          <p:cNvSpPr/>
          <p:nvPr/>
        </p:nvSpPr>
        <p:spPr>
          <a:xfrm>
            <a:off x="2982468" y="4274616"/>
            <a:ext cx="877824" cy="87782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0597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99EAC-390D-FD0E-20CD-015D653E0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831D52-D168-13CA-E5F1-C0B65A672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조합법을 알아보자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C3FF68-93F0-5519-E576-292F72B41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3FD14B8-FA0F-0C02-3D6C-4380C17370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109"/>
          <a:stretch>
            <a:fillRect/>
          </a:stretch>
        </p:blipFill>
        <p:spPr>
          <a:xfrm>
            <a:off x="752856" y="3002279"/>
            <a:ext cx="6598618" cy="317468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B5493D8-C368-962F-BC77-9FBC3F8C5C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119"/>
          <a:stretch>
            <a:fillRect/>
          </a:stretch>
        </p:blipFill>
        <p:spPr>
          <a:xfrm>
            <a:off x="752856" y="1568707"/>
            <a:ext cx="5337048" cy="4608256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55315FBE-2EC8-A11A-4C16-1F19A20FA1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2"/>
          <a:stretch>
            <a:fillRect/>
          </a:stretch>
        </p:blipFill>
        <p:spPr>
          <a:xfrm>
            <a:off x="6300690" y="1568707"/>
            <a:ext cx="5053110" cy="234813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555BABE-46FF-A50C-639D-F8C923B24B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6189" y="4051781"/>
            <a:ext cx="591075" cy="6318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74B60D-6C1D-2BB8-38C4-5762ED2D50D3}"/>
              </a:ext>
            </a:extLst>
          </p:cNvPr>
          <p:cNvSpPr txBox="1"/>
          <p:nvPr/>
        </p:nvSpPr>
        <p:spPr>
          <a:xfrm>
            <a:off x="339701" y="1446877"/>
            <a:ext cx="6035040" cy="33547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algn="ctr"/>
            <a:r>
              <a:rPr lang="en-US" altLang="ko-KR" sz="3200" dirty="0"/>
              <a:t>Q. </a:t>
            </a:r>
            <a:r>
              <a:rPr lang="ko-KR" altLang="en-US" sz="3200" dirty="0"/>
              <a:t>흑연의 경우에는</a:t>
            </a:r>
            <a:r>
              <a:rPr lang="en-US" altLang="ko-KR" sz="3200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AC51A06-2E86-3C69-470F-FF64399B43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8701" y="3916844"/>
            <a:ext cx="2552306" cy="1593368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3069E312-6530-8376-CF33-6A9354AF2978}"/>
              </a:ext>
            </a:extLst>
          </p:cNvPr>
          <p:cNvSpPr/>
          <p:nvPr/>
        </p:nvSpPr>
        <p:spPr>
          <a:xfrm>
            <a:off x="2982468" y="4274616"/>
            <a:ext cx="877824" cy="87782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5F14E3C-4D80-B4F0-5CB3-C41FF7B3306B}"/>
              </a:ext>
            </a:extLst>
          </p:cNvPr>
          <p:cNvSpPr/>
          <p:nvPr/>
        </p:nvSpPr>
        <p:spPr>
          <a:xfrm>
            <a:off x="7091508" y="3928788"/>
            <a:ext cx="877824" cy="87782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82957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93C4CD-A987-8A83-832D-CCFD5F940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왜 이런 일이 발생했을까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0983C4-2897-1EC8-99A5-3A6F71F81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F31A16D-3EB4-93F3-7DD0-9A2195118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973" y="3216376"/>
            <a:ext cx="3548312" cy="221516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55C6FB9-BCA7-0538-4D23-E3C547E56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259" y="3216376"/>
            <a:ext cx="2141064" cy="221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4915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5DC9C-B52F-FA90-1821-DC9BDDA5A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5C5321-9F54-6972-86AA-CFC681BF8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왜 이런 일이 발생했을까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80242B-6DBA-6636-81F2-8AA9931AE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답</a:t>
            </a:r>
            <a:r>
              <a:rPr lang="en-US" altLang="ko-KR" dirty="0"/>
              <a:t>) </a:t>
            </a:r>
            <a:r>
              <a:rPr lang="ko-KR" altLang="en-US" dirty="0"/>
              <a:t>구조가 다르다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6A7113D-C479-49E1-7DBC-884676C87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973" y="3216376"/>
            <a:ext cx="3548312" cy="221516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CAC7A6F-26D1-FFF2-4F35-250CFB657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259" y="3216376"/>
            <a:ext cx="2141064" cy="221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9477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D6364-9DC8-AC4F-8AB5-D31958680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76D26E-7454-8843-2A71-9C7A05A79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왜 이런 일이 발생했을까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C70D7E-1FA4-53C3-9162-6DED75064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답</a:t>
            </a:r>
            <a:r>
              <a:rPr lang="en-US" altLang="ko-KR" dirty="0"/>
              <a:t>) </a:t>
            </a:r>
            <a:r>
              <a:rPr lang="ko-KR" altLang="en-US" dirty="0"/>
              <a:t>구조가 다르다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6A36502-D37F-67D7-BF1C-2B2E96622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973" y="3216376"/>
            <a:ext cx="3548312" cy="221516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1254CDF-3D4B-A26A-AFB1-FB53E39B1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259" y="3216376"/>
            <a:ext cx="2141064" cy="2219124"/>
          </a:xfrm>
          <a:prstGeom prst="rect">
            <a:avLst/>
          </a:prstGeom>
        </p:spPr>
      </p:pic>
      <p:pic>
        <p:nvPicPr>
          <p:cNvPr id="7" name="그림 6" descr="파일:Diamonds glitter.png - 위키백과, 우리 모두의 백과사전">
            <a:extLst>
              <a:ext uri="{FF2B5EF4-FFF2-40B4-BE49-F238E27FC236}">
                <a16:creationId xmlns:a16="http://schemas.microsoft.com/office/drawing/2014/main" id="{84AB9C2F-2E4C-075A-424B-CED3C85E85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94" y="3216376"/>
            <a:ext cx="2292553" cy="208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0605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E2837-D683-CB4A-528B-53F5E4EA2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D38FB0-B899-EE9D-B990-D2046FD91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왜 이런 일이 발생했을까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35666D-0BC2-42CA-80B2-FF4119307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답</a:t>
            </a:r>
            <a:r>
              <a:rPr lang="en-US" altLang="ko-KR" dirty="0"/>
              <a:t>) </a:t>
            </a:r>
            <a:r>
              <a:rPr lang="ko-KR" altLang="en-US" dirty="0"/>
              <a:t>구조가 다르다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3085F41-A4EC-D0F6-1F5E-01B25F183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973" y="3216376"/>
            <a:ext cx="3548312" cy="221516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A83799D-A502-C9ED-0826-5BD1EC743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259" y="3216376"/>
            <a:ext cx="2141064" cy="2219124"/>
          </a:xfrm>
          <a:prstGeom prst="rect">
            <a:avLst/>
          </a:prstGeom>
        </p:spPr>
      </p:pic>
      <p:pic>
        <p:nvPicPr>
          <p:cNvPr id="6" name="그림 5" descr="흑연 - 위키백과, 우리 모두의 백과사전">
            <a:extLst>
              <a:ext uri="{FF2B5EF4-FFF2-40B4-BE49-F238E27FC236}">
                <a16:creationId xmlns:a16="http://schemas.microsoft.com/office/drawing/2014/main" id="{52CFD3D0-ACD5-9302-79BA-5F2C426886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5420" y="2683926"/>
            <a:ext cx="2636705" cy="3280059"/>
          </a:xfrm>
          <a:prstGeom prst="rect">
            <a:avLst/>
          </a:prstGeom>
        </p:spPr>
      </p:pic>
      <p:pic>
        <p:nvPicPr>
          <p:cNvPr id="7" name="그림 6" descr="파일:Diamonds glitter.png - 위키백과, 우리 모두의 백과사전">
            <a:extLst>
              <a:ext uri="{FF2B5EF4-FFF2-40B4-BE49-F238E27FC236}">
                <a16:creationId xmlns:a16="http://schemas.microsoft.com/office/drawing/2014/main" id="{F60D0B40-4A2D-4489-B1BD-4C2A5BCF09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294" y="3216376"/>
            <a:ext cx="2292553" cy="208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0565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0A64CB-9EF9-4473-B232-F0F860AB8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구조의 중요성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F3F084-70A7-E673-E392-C7A19572C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재료는 같아도 배열에 따라 물질이 달라짐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829F7F3-FCF4-4A53-463E-DCC7929BB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854" y="3017631"/>
            <a:ext cx="3407257" cy="165495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572EFB8-B2FA-65A8-7FF6-477DDDC616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780" t="6495" r="2411" b="5805"/>
          <a:stretch>
            <a:fillRect/>
          </a:stretch>
        </p:blipFill>
        <p:spPr>
          <a:xfrm>
            <a:off x="6903719" y="3017632"/>
            <a:ext cx="3322937" cy="165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8900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B69A6-9C7E-07B2-3664-4FCC4A834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D951F8-31ED-7500-3E25-DC264F30B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조합법을 알아보자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7C9F13-2BEC-AFCA-60F4-0D08C5258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5F1D1BB-1003-4327-AB1D-216081864B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109"/>
          <a:stretch>
            <a:fillRect/>
          </a:stretch>
        </p:blipFill>
        <p:spPr>
          <a:xfrm>
            <a:off x="752856" y="3002279"/>
            <a:ext cx="6598618" cy="317468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4B1814E-CF5E-A595-24CF-3D35FC261E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119"/>
          <a:stretch>
            <a:fillRect/>
          </a:stretch>
        </p:blipFill>
        <p:spPr>
          <a:xfrm>
            <a:off x="752856" y="1568707"/>
            <a:ext cx="5337048" cy="4608256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BCE340C4-0520-2F99-19EA-9370FAFD9A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2"/>
          <a:stretch>
            <a:fillRect/>
          </a:stretch>
        </p:blipFill>
        <p:spPr>
          <a:xfrm>
            <a:off x="6300690" y="1568707"/>
            <a:ext cx="5053110" cy="234813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A7270CB-DC07-495C-B1E3-39093C647642}"/>
              </a:ext>
            </a:extLst>
          </p:cNvPr>
          <p:cNvSpPr/>
          <p:nvPr/>
        </p:nvSpPr>
        <p:spPr>
          <a:xfrm>
            <a:off x="5243582" y="3928788"/>
            <a:ext cx="1477107" cy="10371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F5E76DF-36B6-6F97-D866-86B75B36B5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6189" y="4051781"/>
            <a:ext cx="591075" cy="63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3518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B88C6-5DBE-D883-7DD8-2110634E8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97111-D8DC-F564-BCBC-7AE807405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조합법을 알아보자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23280B-CA1B-8AB3-F9C6-996999D1F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2E95894-08A2-729E-AD49-FA0835E11A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109"/>
          <a:stretch>
            <a:fillRect/>
          </a:stretch>
        </p:blipFill>
        <p:spPr>
          <a:xfrm>
            <a:off x="752856" y="3002279"/>
            <a:ext cx="6598618" cy="317468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A3F0F23-FE27-E922-09D7-258BD871B7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119"/>
          <a:stretch>
            <a:fillRect/>
          </a:stretch>
        </p:blipFill>
        <p:spPr>
          <a:xfrm>
            <a:off x="752856" y="1568707"/>
            <a:ext cx="5337048" cy="4608256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A970B918-45A8-1C57-5267-7B020516D9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2"/>
          <a:stretch>
            <a:fillRect/>
          </a:stretch>
        </p:blipFill>
        <p:spPr>
          <a:xfrm>
            <a:off x="6300690" y="1568707"/>
            <a:ext cx="5053110" cy="234813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353F0D1-81FC-E25A-0DE7-6AB507F4B2C5}"/>
              </a:ext>
            </a:extLst>
          </p:cNvPr>
          <p:cNvSpPr/>
          <p:nvPr/>
        </p:nvSpPr>
        <p:spPr>
          <a:xfrm>
            <a:off x="5243582" y="3928788"/>
            <a:ext cx="1477107" cy="10371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B439829-D7DB-A7E9-E3C6-8BBC007455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6189" y="4051781"/>
            <a:ext cx="591075" cy="631838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BDFDACB8-3015-1A4C-67C5-57A1C39851B3}"/>
              </a:ext>
            </a:extLst>
          </p:cNvPr>
          <p:cNvSpPr/>
          <p:nvPr/>
        </p:nvSpPr>
        <p:spPr>
          <a:xfrm>
            <a:off x="7092814" y="3928788"/>
            <a:ext cx="877824" cy="87782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35FD465-8659-C115-5506-19251665B611}"/>
              </a:ext>
            </a:extLst>
          </p:cNvPr>
          <p:cNvSpPr/>
          <p:nvPr/>
        </p:nvSpPr>
        <p:spPr>
          <a:xfrm>
            <a:off x="6281777" y="1522664"/>
            <a:ext cx="877824" cy="87782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8B2E16C-DDE2-1980-40FA-B7EC6176EE75}"/>
              </a:ext>
            </a:extLst>
          </p:cNvPr>
          <p:cNvSpPr/>
          <p:nvPr/>
        </p:nvSpPr>
        <p:spPr>
          <a:xfrm>
            <a:off x="9570569" y="1519812"/>
            <a:ext cx="877824" cy="87782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ABE3B7C-29A1-8472-5DF4-58C1393BEB8B}"/>
              </a:ext>
            </a:extLst>
          </p:cNvPr>
          <p:cNvSpPr/>
          <p:nvPr/>
        </p:nvSpPr>
        <p:spPr>
          <a:xfrm>
            <a:off x="7092814" y="2292479"/>
            <a:ext cx="877824" cy="87782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CAB3B7-9C3E-1E0B-72E4-02F738C8AC5A}"/>
              </a:ext>
            </a:extLst>
          </p:cNvPr>
          <p:cNvSpPr txBox="1"/>
          <p:nvPr/>
        </p:nvSpPr>
        <p:spPr>
          <a:xfrm>
            <a:off x="8528153" y="4262701"/>
            <a:ext cx="384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</a:t>
            </a:r>
            <a:r>
              <a:rPr lang="ko-KR" altLang="en-US" dirty="0"/>
              <a:t>탄산수소나트륨</a:t>
            </a:r>
          </a:p>
        </p:txBody>
      </p:sp>
    </p:spTree>
    <p:extLst>
      <p:ext uri="{BB962C8B-B14F-4D97-AF65-F5344CB8AC3E}">
        <p14:creationId xmlns:p14="http://schemas.microsoft.com/office/powerpoint/2010/main" val="29649554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C04048-1953-AF62-4F7E-0FBA7D0B9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*</a:t>
            </a:r>
            <a:r>
              <a:rPr lang="ko-KR" altLang="en-US" dirty="0"/>
              <a:t>탄산수소나트륨은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6163BF-A44F-5F1C-455E-BD0E5065E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1000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BD376-C10C-A3FD-0A9D-446AB5C9F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326DB8-93AD-FD5B-99E9-F44289DD6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*</a:t>
            </a:r>
            <a:r>
              <a:rPr lang="ko-KR" altLang="en-US" dirty="0"/>
              <a:t>탄산수소나트륨은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F88E55-BF79-FD60-EC43-2B2121C23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탄</a:t>
            </a:r>
            <a:r>
              <a:rPr lang="ko-KR" altLang="en-US" dirty="0"/>
              <a:t>소</a:t>
            </a:r>
            <a:r>
              <a:rPr lang="en-US" altLang="ko-KR" dirty="0"/>
              <a:t>, </a:t>
            </a:r>
            <a:r>
              <a:rPr lang="ko-KR" altLang="en-US" b="1" dirty="0"/>
              <a:t>산</a:t>
            </a:r>
            <a:r>
              <a:rPr lang="ko-KR" altLang="en-US" dirty="0"/>
              <a:t>소</a:t>
            </a:r>
            <a:r>
              <a:rPr lang="en-US" altLang="ko-KR" dirty="0"/>
              <a:t>, </a:t>
            </a:r>
            <a:r>
              <a:rPr lang="ko-KR" altLang="en-US" b="1" dirty="0"/>
              <a:t>수소</a:t>
            </a:r>
            <a:r>
              <a:rPr lang="en-US" altLang="ko-KR" dirty="0"/>
              <a:t>, </a:t>
            </a:r>
            <a:r>
              <a:rPr lang="ko-KR" altLang="en-US" b="1" dirty="0"/>
              <a:t>나트륨</a:t>
            </a:r>
            <a:r>
              <a:rPr lang="ko-KR" altLang="en-US" dirty="0"/>
              <a:t>으로 이루어지긴 했지만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3744354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382E5-D06D-8A74-527B-A12BBA15C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90876D-319D-F632-541E-9EA24B792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*</a:t>
            </a:r>
            <a:r>
              <a:rPr lang="ko-KR" altLang="en-US" dirty="0"/>
              <a:t>탄산수소나트륨은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A631F3-A3D6-BD1C-D567-ACF6ADCDA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탄</a:t>
            </a:r>
            <a:r>
              <a:rPr lang="ko-KR" altLang="en-US" dirty="0"/>
              <a:t>소</a:t>
            </a:r>
            <a:r>
              <a:rPr lang="en-US" altLang="ko-KR" dirty="0"/>
              <a:t>, </a:t>
            </a:r>
            <a:r>
              <a:rPr lang="ko-KR" altLang="en-US" b="1" dirty="0"/>
              <a:t>산</a:t>
            </a:r>
            <a:r>
              <a:rPr lang="ko-KR" altLang="en-US" dirty="0"/>
              <a:t>소</a:t>
            </a:r>
            <a:r>
              <a:rPr lang="en-US" altLang="ko-KR" dirty="0"/>
              <a:t>, </a:t>
            </a:r>
            <a:r>
              <a:rPr lang="ko-KR" altLang="en-US" b="1" dirty="0"/>
              <a:t>수소</a:t>
            </a:r>
            <a:r>
              <a:rPr lang="en-US" altLang="ko-KR" dirty="0"/>
              <a:t>, </a:t>
            </a:r>
            <a:r>
              <a:rPr lang="ko-KR" altLang="en-US" b="1" dirty="0"/>
              <a:t>나트륨</a:t>
            </a:r>
            <a:r>
              <a:rPr lang="ko-KR" altLang="en-US" dirty="0"/>
              <a:t>으로 이루어지긴 했지만</a:t>
            </a:r>
            <a:endParaRPr lang="en-US" altLang="ko-KR" dirty="0"/>
          </a:p>
          <a:p>
            <a:endParaRPr lang="en-US" altLang="ko-KR" b="1" dirty="0"/>
          </a:p>
          <a:p>
            <a:r>
              <a:rPr lang="ko-KR" altLang="en-US" dirty="0"/>
              <a:t>이름을 그렇게 지은 건 아님</a:t>
            </a:r>
          </a:p>
        </p:txBody>
      </p:sp>
    </p:spTree>
    <p:extLst>
      <p:ext uri="{BB962C8B-B14F-4D97-AF65-F5344CB8AC3E}">
        <p14:creationId xmlns:p14="http://schemas.microsoft.com/office/powerpoint/2010/main" val="30271963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967D7-BE72-F04D-EA1B-7C4B86435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43875E-7213-BEA4-2F5D-C3B824B22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*</a:t>
            </a:r>
            <a:r>
              <a:rPr lang="ko-KR" altLang="en-US" dirty="0"/>
              <a:t>탄산수소나트륨은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195655-326D-762E-396D-5CE9DDB6C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탄</a:t>
            </a:r>
            <a:r>
              <a:rPr lang="ko-KR" altLang="en-US" dirty="0"/>
              <a:t>소</a:t>
            </a:r>
            <a:r>
              <a:rPr lang="en-US" altLang="ko-KR" dirty="0"/>
              <a:t>, </a:t>
            </a:r>
            <a:r>
              <a:rPr lang="ko-KR" altLang="en-US" b="1" dirty="0"/>
              <a:t>산</a:t>
            </a:r>
            <a:r>
              <a:rPr lang="ko-KR" altLang="en-US" dirty="0"/>
              <a:t>소</a:t>
            </a:r>
            <a:r>
              <a:rPr lang="en-US" altLang="ko-KR" dirty="0"/>
              <a:t>, </a:t>
            </a:r>
            <a:r>
              <a:rPr lang="ko-KR" altLang="en-US" b="1" dirty="0"/>
              <a:t>수소</a:t>
            </a:r>
            <a:r>
              <a:rPr lang="en-US" altLang="ko-KR" dirty="0"/>
              <a:t>, </a:t>
            </a:r>
            <a:r>
              <a:rPr lang="ko-KR" altLang="en-US" b="1" dirty="0"/>
              <a:t>나트륨</a:t>
            </a:r>
            <a:r>
              <a:rPr lang="ko-KR" altLang="en-US" dirty="0"/>
              <a:t>으로 이루어지긴 했지만</a:t>
            </a:r>
            <a:endParaRPr lang="en-US" altLang="ko-KR" dirty="0"/>
          </a:p>
          <a:p>
            <a:endParaRPr lang="en-US" altLang="ko-KR" b="1" dirty="0"/>
          </a:p>
          <a:p>
            <a:r>
              <a:rPr lang="ko-KR" altLang="en-US" dirty="0"/>
              <a:t>이름을 그렇게 지은 건 아님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20FA86F-8ED2-5498-7CAB-1603D3C8B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188" y="3541181"/>
            <a:ext cx="2972215" cy="30674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B2131B-9E65-A206-A3A2-FE2111234C57}"/>
              </a:ext>
            </a:extLst>
          </p:cNvPr>
          <p:cNvSpPr txBox="1"/>
          <p:nvPr/>
        </p:nvSpPr>
        <p:spPr>
          <a:xfrm>
            <a:off x="557783" y="4206240"/>
            <a:ext cx="2191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탄산이라는 화합물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0206D2D-CDA1-30A8-F538-4820A56D6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367" y="4317410"/>
            <a:ext cx="2831445" cy="1859553"/>
          </a:xfrm>
          <a:prstGeom prst="rect">
            <a:avLst/>
          </a:prstGeom>
        </p:spPr>
      </p:pic>
      <p:sp>
        <p:nvSpPr>
          <p:cNvPr id="9" name="더하기 기호 8">
            <a:extLst>
              <a:ext uri="{FF2B5EF4-FFF2-40B4-BE49-F238E27FC236}">
                <a16:creationId xmlns:a16="http://schemas.microsoft.com/office/drawing/2014/main" id="{F69FA82C-BE13-EA2B-A3A6-318D80010BAE}"/>
              </a:ext>
            </a:extLst>
          </p:cNvPr>
          <p:cNvSpPr/>
          <p:nvPr/>
        </p:nvSpPr>
        <p:spPr>
          <a:xfrm>
            <a:off x="5099304" y="4644747"/>
            <a:ext cx="1042416" cy="1078992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D21916D-AAA9-7AE0-94E3-9FF1B9D51F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2137" y="4445583"/>
            <a:ext cx="1456801" cy="147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2120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5ED5E-7B09-AB40-8C22-27B7E807C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7F861-69B8-52F3-2DD4-375C05BD6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조합법을 알아보자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DCE46B-841F-F008-E68C-AA9C8B258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1CB0B72-6C9A-FB41-D02B-588F891AA2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109"/>
          <a:stretch>
            <a:fillRect/>
          </a:stretch>
        </p:blipFill>
        <p:spPr>
          <a:xfrm>
            <a:off x="752856" y="3002279"/>
            <a:ext cx="6598618" cy="317468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05250EE-EF0F-6318-AB4B-CB44460E2F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119"/>
          <a:stretch>
            <a:fillRect/>
          </a:stretch>
        </p:blipFill>
        <p:spPr>
          <a:xfrm>
            <a:off x="752856" y="1568707"/>
            <a:ext cx="5337048" cy="4608256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A4429BC0-BFB6-9218-7543-30EC40BA47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2"/>
          <a:stretch>
            <a:fillRect/>
          </a:stretch>
        </p:blipFill>
        <p:spPr>
          <a:xfrm>
            <a:off x="6300690" y="1568707"/>
            <a:ext cx="5053110" cy="234813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29689FF-DE38-07F8-EBD6-C014125B1F53}"/>
              </a:ext>
            </a:extLst>
          </p:cNvPr>
          <p:cNvSpPr/>
          <p:nvPr/>
        </p:nvSpPr>
        <p:spPr>
          <a:xfrm>
            <a:off x="955046" y="5152160"/>
            <a:ext cx="5220202" cy="10371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123D5FA-7D43-2D85-E934-FF287E2208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6189" y="4051781"/>
            <a:ext cx="591075" cy="631838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1F36BA9C-689F-3FD6-86C3-A44D7C82BC82}"/>
              </a:ext>
            </a:extLst>
          </p:cNvPr>
          <p:cNvSpPr/>
          <p:nvPr/>
        </p:nvSpPr>
        <p:spPr>
          <a:xfrm>
            <a:off x="7092814" y="1504011"/>
            <a:ext cx="877824" cy="87782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E144168-8898-2F79-5E2C-6158A546BAA3}"/>
              </a:ext>
            </a:extLst>
          </p:cNvPr>
          <p:cNvSpPr/>
          <p:nvPr/>
        </p:nvSpPr>
        <p:spPr>
          <a:xfrm>
            <a:off x="8762762" y="2303863"/>
            <a:ext cx="877824" cy="87782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9249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11DC38-58D4-DECD-E1A9-927EC3767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화합물의 종류는 몇 가지가 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068277-DA21-B62A-4E9B-D19604C93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원소는 </a:t>
            </a:r>
            <a:r>
              <a:rPr lang="en-US" altLang="ko-KR" dirty="0"/>
              <a:t>118</a:t>
            </a:r>
            <a:r>
              <a:rPr lang="ko-KR" altLang="en-US" dirty="0"/>
              <a:t>가지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85519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41F67-23F3-2D58-002C-37931F50E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D3EDCE-53AE-EC1E-930E-DDCEB468D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화합물의 종류는 몇 가지가 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6E7265-7369-8E13-1E94-35AD9033A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원소는 </a:t>
            </a:r>
            <a:r>
              <a:rPr lang="en-US" altLang="ko-KR" dirty="0"/>
              <a:t>118</a:t>
            </a:r>
            <a:r>
              <a:rPr lang="ko-KR" altLang="en-US" dirty="0"/>
              <a:t>가지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화합물은 그 </a:t>
            </a:r>
            <a:r>
              <a:rPr lang="en-US" altLang="ko-KR" dirty="0"/>
              <a:t>‘</a:t>
            </a:r>
            <a:r>
              <a:rPr lang="ko-KR" altLang="en-US" dirty="0"/>
              <a:t>조합</a:t>
            </a:r>
            <a:r>
              <a:rPr lang="en-US" altLang="ko-KR" dirty="0"/>
              <a:t>‘</a:t>
            </a:r>
            <a:r>
              <a:rPr lang="ko-KR" altLang="en-US" dirty="0"/>
              <a:t>이기 때문에 훨씬 더 많이 존재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811471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8C084-7604-092F-2849-764D656E8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0A57A7-16FE-15FF-89C1-92386EF68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화합물의 종류는 몇 가지가 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EE0119-EFAC-EE4A-C1ED-003BD58FA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원소는 </a:t>
            </a:r>
            <a:r>
              <a:rPr lang="en-US" altLang="ko-KR" dirty="0"/>
              <a:t>118</a:t>
            </a:r>
            <a:r>
              <a:rPr lang="ko-KR" altLang="en-US" dirty="0"/>
              <a:t>가지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화합물은 그 </a:t>
            </a:r>
            <a:r>
              <a:rPr lang="en-US" altLang="ko-KR" dirty="0"/>
              <a:t>‘</a:t>
            </a:r>
            <a:r>
              <a:rPr lang="ko-KR" altLang="en-US" dirty="0"/>
              <a:t>조합</a:t>
            </a:r>
            <a:r>
              <a:rPr lang="en-US" altLang="ko-KR" dirty="0"/>
              <a:t>‘</a:t>
            </a:r>
            <a:r>
              <a:rPr lang="ko-KR" altLang="en-US" dirty="0"/>
              <a:t>이기 때문에 훨씬 더 많이 존재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실은 </a:t>
            </a:r>
            <a:r>
              <a:rPr lang="en-US" altLang="ko-KR" dirty="0"/>
              <a:t>‘</a:t>
            </a:r>
            <a:r>
              <a:rPr lang="ko-KR" altLang="en-US" dirty="0"/>
              <a:t>무한</a:t>
            </a:r>
            <a:r>
              <a:rPr lang="en-US" altLang="ko-KR" dirty="0"/>
              <a:t>‘</a:t>
            </a:r>
          </a:p>
        </p:txBody>
      </p:sp>
    </p:spTree>
    <p:extLst>
      <p:ext uri="{BB962C8B-B14F-4D97-AF65-F5344CB8AC3E}">
        <p14:creationId xmlns:p14="http://schemas.microsoft.com/office/powerpoint/2010/main" val="27589383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A614A-240D-0CA2-0412-AD803A0E3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11678F-48E1-1272-313B-99F7C2BB8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화합물의 종류는 몇 가지가 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AD74C3-22DA-21C2-E899-BAED10D3E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원소는 </a:t>
            </a:r>
            <a:r>
              <a:rPr lang="en-US" altLang="ko-KR" dirty="0"/>
              <a:t>118</a:t>
            </a:r>
            <a:r>
              <a:rPr lang="ko-KR" altLang="en-US" dirty="0"/>
              <a:t>가지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화합물은 그 </a:t>
            </a:r>
            <a:r>
              <a:rPr lang="en-US" altLang="ko-KR" dirty="0"/>
              <a:t>‘</a:t>
            </a:r>
            <a:r>
              <a:rPr lang="ko-KR" altLang="en-US" dirty="0"/>
              <a:t>조합</a:t>
            </a:r>
            <a:r>
              <a:rPr lang="en-US" altLang="ko-KR" dirty="0"/>
              <a:t>‘</a:t>
            </a:r>
            <a:r>
              <a:rPr lang="ko-KR" altLang="en-US" dirty="0"/>
              <a:t>이기 때문에 훨씬 더 많이 존재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실은 </a:t>
            </a:r>
            <a:r>
              <a:rPr lang="en-US" altLang="ko-KR" dirty="0"/>
              <a:t>‘</a:t>
            </a:r>
            <a:r>
              <a:rPr lang="ko-KR" altLang="en-US" dirty="0"/>
              <a:t>무한</a:t>
            </a:r>
            <a:r>
              <a:rPr lang="en-US" altLang="ko-KR" dirty="0"/>
              <a:t>‘ (</a:t>
            </a:r>
            <a:r>
              <a:rPr lang="ko-KR" altLang="en-US" dirty="0"/>
              <a:t>이유가 궁금하면 나중에</a:t>
            </a:r>
            <a:r>
              <a:rPr lang="en-US" altLang="ko-KR" dirty="0"/>
              <a:t>…)</a:t>
            </a:r>
          </a:p>
        </p:txBody>
      </p:sp>
    </p:spTree>
    <p:extLst>
      <p:ext uri="{BB962C8B-B14F-4D97-AF65-F5344CB8AC3E}">
        <p14:creationId xmlns:p14="http://schemas.microsoft.com/office/powerpoint/2010/main" val="29485125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0E159D-4C3C-08C8-556D-E5C675E8A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형성평가를 풀어보아요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F180C3-9B04-3CC3-D83E-ECEFA1775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B60DA9-237B-9FE8-2F04-9602F1D03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45868"/>
            <a:ext cx="10515600" cy="367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61402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11C25-6BDE-946A-84DB-8412B240F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38EC5-B95C-52B9-BF97-03ACB9A36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형성평가를 풀어보아요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1F7F38-6AC0-EEFE-69A3-36212FF54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9654051-C96D-A41C-96B4-C5D78D709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45868"/>
            <a:ext cx="10515600" cy="36712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4F9EAE-502A-6BE2-9882-B7D85862896F}"/>
              </a:ext>
            </a:extLst>
          </p:cNvPr>
          <p:cNvSpPr txBox="1"/>
          <p:nvPr/>
        </p:nvSpPr>
        <p:spPr>
          <a:xfrm>
            <a:off x="4572000" y="2798064"/>
            <a:ext cx="77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원소</a:t>
            </a:r>
          </a:p>
        </p:txBody>
      </p:sp>
    </p:spTree>
    <p:extLst>
      <p:ext uri="{BB962C8B-B14F-4D97-AF65-F5344CB8AC3E}">
        <p14:creationId xmlns:p14="http://schemas.microsoft.com/office/powerpoint/2010/main" val="357440885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58099-2DB1-B5BE-57FA-241990686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8A4C7E-53E6-D0EF-A11C-56CE96EBF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형성평가를 풀어보아요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027ED8-2A0F-0199-EC0F-8EF1123B3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85D0F55-C804-6726-3EF5-7E718C4AD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45868"/>
            <a:ext cx="10515600" cy="36712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0214CE-C1EE-493A-0A7F-BF9AA4811E44}"/>
              </a:ext>
            </a:extLst>
          </p:cNvPr>
          <p:cNvSpPr txBox="1"/>
          <p:nvPr/>
        </p:nvSpPr>
        <p:spPr>
          <a:xfrm>
            <a:off x="4572000" y="2798064"/>
            <a:ext cx="77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원소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2FA404-12C7-4A66-5037-162552474E41}"/>
              </a:ext>
            </a:extLst>
          </p:cNvPr>
          <p:cNvSpPr txBox="1"/>
          <p:nvPr/>
        </p:nvSpPr>
        <p:spPr>
          <a:xfrm>
            <a:off x="2237232" y="3134392"/>
            <a:ext cx="935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highlight>
                  <a:srgbClr val="FFFF00"/>
                </a:highlight>
              </a:rPr>
              <a:t>화합물</a:t>
            </a:r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5423001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9BD43-5550-EC6F-6ECD-2D5261013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2505C9-1CE2-BEDD-1700-0C793A8A0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형성평가를 풀어보아요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66C18F-CB5C-A338-B31B-CD9F281E4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9F76498-D849-91CB-50ED-2C44847BA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45868"/>
            <a:ext cx="10515600" cy="36712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D992F2-7E1B-FCBA-DEDF-C01E55BBBE38}"/>
              </a:ext>
            </a:extLst>
          </p:cNvPr>
          <p:cNvSpPr txBox="1"/>
          <p:nvPr/>
        </p:nvSpPr>
        <p:spPr>
          <a:xfrm>
            <a:off x="4572000" y="2798064"/>
            <a:ext cx="77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원소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F5637F-3D29-C133-AE20-2BEC2D594F9B}"/>
              </a:ext>
            </a:extLst>
          </p:cNvPr>
          <p:cNvSpPr txBox="1"/>
          <p:nvPr/>
        </p:nvSpPr>
        <p:spPr>
          <a:xfrm>
            <a:off x="2237232" y="3134392"/>
            <a:ext cx="935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highlight>
                  <a:srgbClr val="FFFF00"/>
                </a:highlight>
              </a:rPr>
              <a:t>화합물</a:t>
            </a:r>
            <a:endParaRPr lang="ko-KR" altLang="en-US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4BA258A6-2BF9-B180-9385-D753770EACD4}"/>
                  </a:ext>
                </a:extLst>
              </p14:cNvPr>
              <p14:cNvContentPartPr/>
              <p14:nvPr/>
            </p14:nvContentPartPr>
            <p14:xfrm>
              <a:off x="7488792" y="3806640"/>
              <a:ext cx="342000" cy="25488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4BA258A6-2BF9-B180-9385-D753770EAC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70792" y="3789000"/>
                <a:ext cx="377640" cy="29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590525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7CF26-4A01-F6A1-B6A7-3FDAD6614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749FCC-52B6-E286-38A8-045BC34C4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형성평가를 풀어보아요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5F1CF8-2C40-27F2-57EC-DA21C44B6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8E4F05-3132-CE4B-DBAB-3AE0FD5AE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45868"/>
            <a:ext cx="10515600" cy="36712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00A722-A707-9962-0D7C-38259A96BD24}"/>
              </a:ext>
            </a:extLst>
          </p:cNvPr>
          <p:cNvSpPr txBox="1"/>
          <p:nvPr/>
        </p:nvSpPr>
        <p:spPr>
          <a:xfrm>
            <a:off x="4572000" y="2798064"/>
            <a:ext cx="77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원소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A09E11-C091-04A6-018C-E43B981F0F18}"/>
              </a:ext>
            </a:extLst>
          </p:cNvPr>
          <p:cNvSpPr txBox="1"/>
          <p:nvPr/>
        </p:nvSpPr>
        <p:spPr>
          <a:xfrm>
            <a:off x="2237232" y="3134392"/>
            <a:ext cx="935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highlight>
                  <a:srgbClr val="FFFF00"/>
                </a:highlight>
              </a:rPr>
              <a:t>화합물</a:t>
            </a:r>
            <a:endParaRPr lang="ko-KR" altLang="en-US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ED599AB9-E7E6-DCF6-A905-DB5982A46889}"/>
                  </a:ext>
                </a:extLst>
              </p14:cNvPr>
              <p14:cNvContentPartPr/>
              <p14:nvPr/>
            </p14:nvContentPartPr>
            <p14:xfrm>
              <a:off x="7488792" y="3806640"/>
              <a:ext cx="342000" cy="25488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ED599AB9-E7E6-DCF6-A905-DB5982A4688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70792" y="3789000"/>
                <a:ext cx="377640" cy="29052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63C5D65-DBF2-CC2C-8E85-EC3211E33C3E}"/>
              </a:ext>
            </a:extLst>
          </p:cNvPr>
          <p:cNvSpPr txBox="1"/>
          <p:nvPr/>
        </p:nvSpPr>
        <p:spPr>
          <a:xfrm>
            <a:off x="1307592" y="4956048"/>
            <a:ext cx="4788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원소</a:t>
            </a:r>
            <a:r>
              <a:rPr lang="en-US" altLang="ko-KR" dirty="0"/>
              <a:t>: </a:t>
            </a:r>
            <a:r>
              <a:rPr lang="ko-KR" altLang="en-US" dirty="0"/>
              <a:t>수소</a:t>
            </a:r>
            <a:r>
              <a:rPr lang="en-US" altLang="ko-KR" dirty="0"/>
              <a:t>, </a:t>
            </a:r>
            <a:r>
              <a:rPr lang="ko-KR" altLang="en-US" dirty="0"/>
              <a:t>산소 </a:t>
            </a:r>
            <a:r>
              <a:rPr lang="en-US" altLang="ko-KR" dirty="0"/>
              <a:t>/ </a:t>
            </a:r>
            <a:r>
              <a:rPr lang="ko-KR" altLang="en-US" dirty="0"/>
              <a:t>화합물</a:t>
            </a:r>
            <a:r>
              <a:rPr lang="en-US" altLang="ko-KR" dirty="0"/>
              <a:t>: </a:t>
            </a:r>
            <a:r>
              <a:rPr lang="ko-KR" altLang="en-US" dirty="0"/>
              <a:t>과산화 수소</a:t>
            </a:r>
          </a:p>
        </p:txBody>
      </p:sp>
    </p:spTree>
    <p:extLst>
      <p:ext uri="{BB962C8B-B14F-4D97-AF65-F5344CB8AC3E}">
        <p14:creationId xmlns:p14="http://schemas.microsoft.com/office/powerpoint/2010/main" val="38620548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A68CC-9496-4EAE-BE82-AE94060F6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9F2769-8492-9C8C-4646-3BA8ECCD6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다음 시간에는 뭐 하나요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D5113D-3C6E-6373-F827-36217AE8F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이거 수상하게 공간이 많이 남지 않나요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72AAF77-10AA-6D65-CF26-F310680CCA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305"/>
          <a:stretch>
            <a:fillRect/>
          </a:stretch>
        </p:blipFill>
        <p:spPr>
          <a:xfrm>
            <a:off x="838200" y="2400404"/>
            <a:ext cx="8519154" cy="391149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71E537C-97CA-6442-03F8-48115AF8F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191" y="5726488"/>
            <a:ext cx="2006772" cy="59497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628F41A-5EB4-3CA9-736B-65B1C8D27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049" y="2597434"/>
            <a:ext cx="731138" cy="51908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0938620-557D-4454-3D95-90AE437E84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407" y="2597434"/>
            <a:ext cx="731138" cy="51908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138A56B-CBB4-1D5C-1527-03CBDC2D4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319" y="2597434"/>
            <a:ext cx="731138" cy="51908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1C48912-EAD4-CE26-02F5-E9DC995D98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4334" y="2670253"/>
            <a:ext cx="631284" cy="4997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814B1EC-19B1-E0BC-B7DD-B07A8AA781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4560" y="2670253"/>
            <a:ext cx="631284" cy="49978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DB997B2-662F-0AC8-2118-4B586FF5FF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4787" y="2664981"/>
            <a:ext cx="631284" cy="49978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787BD0D-F610-A8A2-5AD6-6AA02B89C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049" y="5242030"/>
            <a:ext cx="731138" cy="5190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19E0A9D-C67C-41A2-9193-F0406147D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407" y="5242030"/>
            <a:ext cx="731138" cy="51908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D1527C8-C22E-E785-238D-73709AF94C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319" y="5242030"/>
            <a:ext cx="731138" cy="51908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E2B8BDF-FB55-27DB-9474-7869B97545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4334" y="5314849"/>
            <a:ext cx="631284" cy="49978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567CA77-FC6C-EC4B-443F-B3FAED7588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4560" y="5314849"/>
            <a:ext cx="731138" cy="49978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0A909BB-AD34-3C30-98D8-7EC467ED17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4787" y="5309577"/>
            <a:ext cx="631284" cy="49978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C1F5A978-DFD3-8977-529B-C2527D733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3063" y="3913759"/>
            <a:ext cx="731138" cy="51908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880CCAC-CCB7-18A0-518B-BF43A780E8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862" y="3865519"/>
            <a:ext cx="731138" cy="519089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BDC53B2D-C3F1-03BB-9FFF-FD9A8E1EA6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877" y="3938338"/>
            <a:ext cx="631284" cy="499782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BC3A7CD8-B642-F716-C91E-7E4E72E91C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407" y="3959743"/>
            <a:ext cx="731136" cy="49978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9EC41FF5-37C9-A0DE-96F5-2D4410AB37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3330" y="3933066"/>
            <a:ext cx="631284" cy="49978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7DF6513-2C3D-101C-084E-D58886D22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4933" y="3959743"/>
            <a:ext cx="731138" cy="51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14195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CB485-778E-BE23-1CC6-91AD6EA12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7C39F7-32A7-91B3-1A40-92FC0B079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다음 시간에는 뭐 하나요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4A3216-096D-A499-15C3-BE667ABDB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이거 수상하게 공간이 많이 남지 않나요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132E1EF-6A92-37F5-DF13-AE04281733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305"/>
          <a:stretch>
            <a:fillRect/>
          </a:stretch>
        </p:blipFill>
        <p:spPr>
          <a:xfrm>
            <a:off x="838200" y="2400404"/>
            <a:ext cx="8519154" cy="391149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C72418A-495E-B10A-EA7F-14230D6D2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191" y="5726488"/>
            <a:ext cx="2006772" cy="59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82920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9A71-3056-6C1B-924A-0F8326699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634A37-99D2-FDC5-E78B-40503FFF3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다음 시간에는 뭐 하나요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FF5F5C-C062-B2A9-9050-CC44B5419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이거 수상하게 공간이 많이 남지 않나요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F52FC31-64A6-6321-9412-28F7971883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305"/>
          <a:stretch>
            <a:fillRect/>
          </a:stretch>
        </p:blipFill>
        <p:spPr>
          <a:xfrm>
            <a:off x="838200" y="2400404"/>
            <a:ext cx="8519154" cy="391149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95F9E9F-3810-66DA-B17F-8EDC2A13A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191" y="5726488"/>
            <a:ext cx="2006772" cy="594972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2501CB46-E3F3-C230-2C72-8F943FEF869B}"/>
              </a:ext>
            </a:extLst>
          </p:cNvPr>
          <p:cNvSpPr/>
          <p:nvPr/>
        </p:nvSpPr>
        <p:spPr>
          <a:xfrm>
            <a:off x="1238421" y="2551176"/>
            <a:ext cx="621792" cy="6309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11C1FFA0-54FA-E4CA-E140-FDDAD5DA769F}"/>
                  </a:ext>
                </a:extLst>
              </p14:cNvPr>
              <p14:cNvContentPartPr/>
              <p14:nvPr/>
            </p14:nvContentPartPr>
            <p14:xfrm>
              <a:off x="1828512" y="2530800"/>
              <a:ext cx="140400" cy="17100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11C1FFA0-54FA-E4CA-E140-FDDAD5DA76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10872" y="2512800"/>
                <a:ext cx="17604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098970C8-840C-1A53-EC69-A988BF6B7D8F}"/>
                  </a:ext>
                </a:extLst>
              </p14:cNvPr>
              <p14:cNvContentPartPr/>
              <p14:nvPr/>
            </p14:nvContentPartPr>
            <p14:xfrm>
              <a:off x="2039112" y="2832840"/>
              <a:ext cx="360" cy="180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098970C8-840C-1A53-EC69-A988BF6B7D8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21112" y="2814840"/>
                <a:ext cx="36000" cy="3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590552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436872-FD71-8CFC-4DC8-CEFF0EDE0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보너스</a:t>
            </a:r>
            <a:r>
              <a:rPr lang="en-US" altLang="ko-KR" dirty="0"/>
              <a:t>(</a:t>
            </a:r>
            <a:r>
              <a:rPr lang="ko-KR" altLang="en-US" dirty="0"/>
              <a:t>시간이 남는다면</a:t>
            </a:r>
            <a:r>
              <a:rPr lang="en-US" altLang="ko-KR" dirty="0"/>
              <a:t>…)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75866E-E35C-ED3E-F83A-F8C577C55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975148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FE54D-7156-84E4-B71B-2AD330440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DFE303-5297-EDEA-B27F-9C00EB461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교과서에 속지 마세요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81F360-3BD2-ABD1-0267-32C921DEA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다이아몬드와 흑연 모두 </a:t>
            </a:r>
            <a:r>
              <a:rPr lang="en-US" altLang="ko-KR" dirty="0"/>
              <a:t>‘</a:t>
            </a:r>
            <a:r>
              <a:rPr lang="ko-KR" altLang="en-US" dirty="0"/>
              <a:t>탄소</a:t>
            </a:r>
            <a:r>
              <a:rPr lang="en-US" altLang="ko-KR" dirty="0"/>
              <a:t>‘</a:t>
            </a:r>
            <a:r>
              <a:rPr lang="ko-KR" altLang="en-US" dirty="0"/>
              <a:t>로만 구성됨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A55AE4-8105-E6FA-C58C-264277152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8997" y="4273751"/>
            <a:ext cx="3548312" cy="221516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D29FB1B-80AA-2EFB-8F99-C3F902089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283" y="4273751"/>
            <a:ext cx="2141064" cy="221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37950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598F8-30ED-8DCF-D9A7-4D38F1A41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CA368E-DD49-C09A-FBEC-2118A6B64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교과서에 속지 마세요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471628-FAFF-9E32-A9A3-6A279DF72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다이아몬드와 흑연 모두 </a:t>
            </a:r>
            <a:r>
              <a:rPr lang="en-US" altLang="ko-KR" dirty="0"/>
              <a:t>‘</a:t>
            </a:r>
            <a:r>
              <a:rPr lang="ko-KR" altLang="en-US" dirty="0"/>
              <a:t>탄소</a:t>
            </a:r>
            <a:r>
              <a:rPr lang="en-US" altLang="ko-KR" dirty="0"/>
              <a:t>‘</a:t>
            </a:r>
            <a:r>
              <a:rPr lang="ko-KR" altLang="en-US" dirty="0"/>
              <a:t>로만 구성됨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왜 탄소가 아니지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BD13D3D-2009-9702-9686-EC65F5B03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8997" y="4273751"/>
            <a:ext cx="3548312" cy="221516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DBCC175-DFF0-C7DB-7C1D-0E2299FD0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283" y="4273751"/>
            <a:ext cx="2141064" cy="221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6496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E13A3-9E9F-A347-C6C3-D197A9357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D49471-C2D9-F794-8F48-C38548598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교과서에 속지 마세요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DAAF6B-12A9-9240-9F62-41C5AAEAA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다이아몬드와 흑연 모두 </a:t>
            </a:r>
            <a:r>
              <a:rPr lang="en-US" altLang="ko-KR" dirty="0"/>
              <a:t>‘</a:t>
            </a:r>
            <a:r>
              <a:rPr lang="ko-KR" altLang="en-US" dirty="0"/>
              <a:t>탄소</a:t>
            </a:r>
            <a:r>
              <a:rPr lang="en-US" altLang="ko-KR" dirty="0"/>
              <a:t>‘</a:t>
            </a:r>
            <a:r>
              <a:rPr lang="ko-KR" altLang="en-US" dirty="0"/>
              <a:t>로만 구성됨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왜 탄소가 아니지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실은 원소는 </a:t>
            </a:r>
            <a:r>
              <a:rPr lang="en-US" altLang="ko-KR" dirty="0"/>
              <a:t>‘</a:t>
            </a:r>
            <a:r>
              <a:rPr lang="ko-KR" altLang="en-US" dirty="0"/>
              <a:t>종류</a:t>
            </a:r>
            <a:r>
              <a:rPr lang="en-US" altLang="ko-KR" dirty="0"/>
              <a:t>’</a:t>
            </a:r>
            <a:r>
              <a:rPr lang="ko-KR" altLang="en-US" dirty="0"/>
              <a:t>의 이름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2945169-5233-36B5-F517-AACF36895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8997" y="4273751"/>
            <a:ext cx="3548312" cy="221516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B690FED-10D1-9399-3C56-09A6CDCB2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283" y="4273751"/>
            <a:ext cx="2141064" cy="221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61018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01EAB2-82DA-FE86-C238-BD399E1D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원소가 그래서 정확히 </a:t>
            </a:r>
            <a:r>
              <a:rPr lang="ko-KR" altLang="en-US" dirty="0" err="1"/>
              <a:t>뭔가요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31E8C2-AE92-3BBD-26D6-9EC409F8C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원소는 기본 물질의 </a:t>
            </a:r>
            <a:r>
              <a:rPr lang="en-US" altLang="ko-KR" dirty="0"/>
              <a:t>‘</a:t>
            </a:r>
            <a:r>
              <a:rPr lang="ko-KR" altLang="en-US" b="1" dirty="0"/>
              <a:t>종류</a:t>
            </a:r>
            <a:r>
              <a:rPr lang="en-US" altLang="ko-KR" dirty="0"/>
              <a:t>’</a:t>
            </a:r>
            <a:r>
              <a:rPr lang="ko-KR" altLang="en-US" dirty="0"/>
              <a:t>의 </a:t>
            </a:r>
            <a:r>
              <a:rPr lang="ko-KR" altLang="en-US" b="1" dirty="0"/>
              <a:t>이름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3327848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ED3E2-31D6-B561-23D5-6E538ECD4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44287-45B8-F6FB-1A44-09BCDC74A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원소가 그래서 정확히 </a:t>
            </a:r>
            <a:r>
              <a:rPr lang="ko-KR" altLang="en-US" dirty="0" err="1"/>
              <a:t>뭔가요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9E74A8-81EE-997D-03B2-AC3CFD41B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원소는 기본 물질의 </a:t>
            </a:r>
            <a:r>
              <a:rPr lang="en-US" altLang="ko-KR" dirty="0"/>
              <a:t>‘</a:t>
            </a:r>
            <a:r>
              <a:rPr lang="ko-KR" altLang="en-US" b="1" dirty="0"/>
              <a:t>종류</a:t>
            </a:r>
            <a:r>
              <a:rPr lang="en-US" altLang="ko-KR" dirty="0"/>
              <a:t>’</a:t>
            </a:r>
            <a:r>
              <a:rPr lang="ko-KR" altLang="en-US" dirty="0"/>
              <a:t>의 </a:t>
            </a:r>
            <a:r>
              <a:rPr lang="ko-KR" altLang="en-US" b="1" dirty="0"/>
              <a:t>이름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교과서에서 얘기하는 </a:t>
            </a:r>
            <a:r>
              <a:rPr lang="en-US" altLang="ko-KR" dirty="0"/>
              <a:t>‘</a:t>
            </a:r>
            <a:r>
              <a:rPr lang="ko-KR" altLang="en-US" b="1" dirty="0"/>
              <a:t>원소</a:t>
            </a:r>
            <a:r>
              <a:rPr lang="en-US" altLang="ko-KR" dirty="0"/>
              <a:t>’</a:t>
            </a:r>
            <a:r>
              <a:rPr lang="ko-KR" altLang="en-US" dirty="0"/>
              <a:t>는 실은 </a:t>
            </a:r>
            <a:r>
              <a:rPr lang="en-US" altLang="ko-KR" dirty="0"/>
              <a:t>‘</a:t>
            </a:r>
            <a:r>
              <a:rPr lang="ko-KR" altLang="en-US" b="1" dirty="0"/>
              <a:t>한 원소로만 구성된 물질</a:t>
            </a:r>
            <a:r>
              <a:rPr lang="en-US" altLang="ko-KR" dirty="0"/>
              <a:t>‘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6459469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B5B31-BBC7-D256-02C2-49CCE7EF2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525029-8D11-6795-F15C-F79D95F4C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원소가 그래서 정확히 </a:t>
            </a:r>
            <a:r>
              <a:rPr lang="ko-KR" altLang="en-US" dirty="0" err="1"/>
              <a:t>뭔가요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FBBCE7-DD2B-E285-128C-53510988B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원소는 기본 물질의 </a:t>
            </a:r>
            <a:r>
              <a:rPr lang="en-US" altLang="ko-KR" dirty="0"/>
              <a:t>‘</a:t>
            </a:r>
            <a:r>
              <a:rPr lang="ko-KR" altLang="en-US" b="1" dirty="0"/>
              <a:t>종류</a:t>
            </a:r>
            <a:r>
              <a:rPr lang="en-US" altLang="ko-KR" dirty="0"/>
              <a:t>’</a:t>
            </a:r>
            <a:r>
              <a:rPr lang="ko-KR" altLang="en-US" dirty="0"/>
              <a:t>의 </a:t>
            </a:r>
            <a:r>
              <a:rPr lang="ko-KR" altLang="en-US" b="1" dirty="0"/>
              <a:t>이름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교과서에서 얘기하는 </a:t>
            </a:r>
            <a:r>
              <a:rPr lang="en-US" altLang="ko-KR" dirty="0"/>
              <a:t>‘</a:t>
            </a:r>
            <a:r>
              <a:rPr lang="ko-KR" altLang="en-US" b="1" dirty="0"/>
              <a:t>원소</a:t>
            </a:r>
            <a:r>
              <a:rPr lang="en-US" altLang="ko-KR" dirty="0"/>
              <a:t>’</a:t>
            </a:r>
            <a:r>
              <a:rPr lang="ko-KR" altLang="en-US" dirty="0"/>
              <a:t>는 실은 </a:t>
            </a:r>
            <a:r>
              <a:rPr lang="en-US" altLang="ko-KR" dirty="0"/>
              <a:t>‘</a:t>
            </a:r>
            <a:r>
              <a:rPr lang="ko-KR" altLang="en-US" b="1" dirty="0"/>
              <a:t>한 원소로만 구성된 물질</a:t>
            </a:r>
            <a:r>
              <a:rPr lang="en-US" altLang="ko-KR" dirty="0"/>
              <a:t>‘</a:t>
            </a:r>
          </a:p>
          <a:p>
            <a:endParaRPr lang="en-US" altLang="ko-KR" dirty="0"/>
          </a:p>
          <a:p>
            <a:r>
              <a:rPr lang="ko-KR" altLang="en-US" dirty="0"/>
              <a:t>짧게 부를 때는 </a:t>
            </a:r>
            <a:r>
              <a:rPr lang="en-US" altLang="ko-KR" dirty="0"/>
              <a:t>‘</a:t>
            </a:r>
            <a:r>
              <a:rPr lang="ko-KR" altLang="en-US" dirty="0" err="1"/>
              <a:t>홑원소</a:t>
            </a:r>
            <a:r>
              <a:rPr lang="ko-KR" altLang="en-US" dirty="0"/>
              <a:t> 물질</a:t>
            </a:r>
            <a:r>
              <a:rPr lang="en-US" altLang="ko-KR" dirty="0"/>
              <a:t>’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2055871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A7BFAA-0E0C-8075-136D-AAD0A2250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왜 교과서에서 거짓말해요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C1C1C3-6CF6-725A-4246-5831FE124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840168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C3ABE-5098-EADE-79FC-5D1C8D218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1C373B-F385-905E-5C6C-A4269AE92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왜 교과서에서 거짓말해요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E63B24-8903-B055-DEF2-BF00001B2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그러게요</a:t>
            </a:r>
          </a:p>
        </p:txBody>
      </p:sp>
    </p:spTree>
    <p:extLst>
      <p:ext uri="{BB962C8B-B14F-4D97-AF65-F5344CB8AC3E}">
        <p14:creationId xmlns:p14="http://schemas.microsoft.com/office/powerpoint/2010/main" val="258718582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D15BE-05E2-50F1-6B94-1A495D6F8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F9C4A9-5AC1-4CF8-51FC-68323FEC0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왜 교과서에서 거짓말해요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7E5495-2242-85D7-107E-B2C1085C5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그러게요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어쨌든 시험에서는 </a:t>
            </a:r>
            <a:r>
              <a:rPr lang="ko-KR" altLang="en-US" dirty="0" err="1"/>
              <a:t>홑원소</a:t>
            </a:r>
            <a:r>
              <a:rPr lang="ko-KR" altLang="en-US" dirty="0"/>
              <a:t> 물질을 원소라고 써야 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1672818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DC31E-DB08-D6E2-0940-4DD02D66A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68D4C-7063-5B55-F2C1-FD8077713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왜 교과서에서 거짓말해요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B232A6-A454-345A-2DB4-FBE2B2734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그러게요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어쨌든 시험에서는 </a:t>
            </a:r>
            <a:r>
              <a:rPr lang="ko-KR" altLang="en-US" dirty="0" err="1"/>
              <a:t>홑원소</a:t>
            </a:r>
            <a:r>
              <a:rPr lang="ko-KR" altLang="en-US" dirty="0"/>
              <a:t> 물질을 원소라고 써야 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두 가지 뜻을 다 알고 주의해야</a:t>
            </a:r>
          </a:p>
        </p:txBody>
      </p:sp>
    </p:spTree>
    <p:extLst>
      <p:ext uri="{BB962C8B-B14F-4D97-AF65-F5344CB8AC3E}">
        <p14:creationId xmlns:p14="http://schemas.microsoft.com/office/powerpoint/2010/main" val="1797507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</TotalTime>
  <Words>876</Words>
  <Application>Microsoft Office PowerPoint</Application>
  <PresentationFormat>와이드스크린</PresentationFormat>
  <Paragraphs>260</Paragraphs>
  <Slides>81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81</vt:i4>
      </vt:variant>
    </vt:vector>
  </HeadingPairs>
  <TitlesOfParts>
    <vt:vector size="84" baseType="lpstr">
      <vt:lpstr>맑은 고딕</vt:lpstr>
      <vt:lpstr>Arial</vt:lpstr>
      <vt:lpstr>Office 테마</vt:lpstr>
      <vt:lpstr>주말에 뭘 했나요?</vt:lpstr>
      <vt:lpstr>주말에 뭘 했나요?</vt:lpstr>
      <vt:lpstr>마인크래프트 조합법</vt:lpstr>
      <vt:lpstr>마인크래프트 조합법</vt:lpstr>
      <vt:lpstr>금을 만드는 방법(마인크래프트에서)</vt:lpstr>
      <vt:lpstr>금을 만드는 방법(마인크래프트에서)</vt:lpstr>
      <vt:lpstr>금을 만드는 방법(현실에서)</vt:lpstr>
      <vt:lpstr>금을 만드는 방법(현실에서)</vt:lpstr>
      <vt:lpstr>땅을 파기 귀찮아요</vt:lpstr>
      <vt:lpstr>땅을 파기 귀찮아요</vt:lpstr>
      <vt:lpstr>땅을 파기 귀찮아요</vt:lpstr>
      <vt:lpstr>금은 무엇으로 이루어져 있을까?</vt:lpstr>
      <vt:lpstr>금은 무엇으로 이루어져 있을까?</vt:lpstr>
      <vt:lpstr>금은 무엇으로 이루어져 있을까?</vt:lpstr>
      <vt:lpstr>금은 무엇으로 이루어져 있을까?</vt:lpstr>
      <vt:lpstr>왜 4원소설이 실패했을까?</vt:lpstr>
      <vt:lpstr>왜 4원소설이 실패했을까?</vt:lpstr>
      <vt:lpstr>왜 4원소설이 실패했을까?</vt:lpstr>
      <vt:lpstr>왜 4원소설이 실패했을까?</vt:lpstr>
      <vt:lpstr>세상의 ‘기본 재료’들</vt:lpstr>
      <vt:lpstr>세상의 ‘기본 재료’들</vt:lpstr>
      <vt:lpstr>세상의 ‘기본 재료’들</vt:lpstr>
      <vt:lpstr>세상의 ‘기본 재료’들</vt:lpstr>
      <vt:lpstr>원소에는 어떤 것이 있을까?</vt:lpstr>
      <vt:lpstr>원소에는 어떤 것이 있을까?</vt:lpstr>
      <vt:lpstr>원소에는 어떤 것이 있을까?</vt:lpstr>
      <vt:lpstr>원소를 합치면 무슨 물질이 될까?</vt:lpstr>
      <vt:lpstr>원소를 합치면 무슨 물질이 될까?</vt:lpstr>
      <vt:lpstr>원소를 합치면 무슨 물질이 될까?</vt:lpstr>
      <vt:lpstr>마인크래프트로 비유하면</vt:lpstr>
      <vt:lpstr>마인크래프트로 비유하면</vt:lpstr>
      <vt:lpstr>원소는 어떤 것이 있을까?</vt:lpstr>
      <vt:lpstr>원소는 어떤 것이 있을까?</vt:lpstr>
      <vt:lpstr>다 알 필요 x</vt:lpstr>
      <vt:lpstr>다 알 필요 x</vt:lpstr>
      <vt:lpstr>Gemini의 추천 목록</vt:lpstr>
      <vt:lpstr>Gemini의 추천 목록</vt:lpstr>
      <vt:lpstr>교과서의 추천 목록(아님)</vt:lpstr>
      <vt:lpstr>조합법을 알아보자</vt:lpstr>
      <vt:lpstr>조합법을 알아보자</vt:lpstr>
      <vt:lpstr>조합법을 알아보자</vt:lpstr>
      <vt:lpstr>조합법을 알아보자</vt:lpstr>
      <vt:lpstr>조합법을 알아보자</vt:lpstr>
      <vt:lpstr>조합법을 알아보자</vt:lpstr>
      <vt:lpstr>조합법을 알아보자</vt:lpstr>
      <vt:lpstr>조합법을 알아보자</vt:lpstr>
      <vt:lpstr>왜 이런 일이 발생했을까?</vt:lpstr>
      <vt:lpstr>왜 이런 일이 발생했을까?</vt:lpstr>
      <vt:lpstr>왜 이런 일이 발생했을까?</vt:lpstr>
      <vt:lpstr>왜 이런 일이 발생했을까?</vt:lpstr>
      <vt:lpstr>구조의 중요성</vt:lpstr>
      <vt:lpstr>조합법을 알아보자</vt:lpstr>
      <vt:lpstr>조합법을 알아보자</vt:lpstr>
      <vt:lpstr>*탄산수소나트륨은…</vt:lpstr>
      <vt:lpstr>*탄산수소나트륨은…</vt:lpstr>
      <vt:lpstr>*탄산수소나트륨은…</vt:lpstr>
      <vt:lpstr>*탄산수소나트륨은…</vt:lpstr>
      <vt:lpstr>조합법을 알아보자</vt:lpstr>
      <vt:lpstr>화합물의 종류는 몇 가지가 있을까?</vt:lpstr>
      <vt:lpstr>화합물의 종류는 몇 가지가 있을까?</vt:lpstr>
      <vt:lpstr>화합물의 종류는 몇 가지가 있을까?</vt:lpstr>
      <vt:lpstr>화합물의 종류는 몇 가지가 있을까?</vt:lpstr>
      <vt:lpstr>형성평가를 풀어보아요</vt:lpstr>
      <vt:lpstr>형성평가를 풀어보아요</vt:lpstr>
      <vt:lpstr>형성평가를 풀어보아요</vt:lpstr>
      <vt:lpstr>형성평가를 풀어보아요</vt:lpstr>
      <vt:lpstr>형성평가를 풀어보아요</vt:lpstr>
      <vt:lpstr>다음 시간에는 뭐 하나요</vt:lpstr>
      <vt:lpstr>다음 시간에는 뭐 하나요</vt:lpstr>
      <vt:lpstr>다음 시간에는 뭐 하나요</vt:lpstr>
      <vt:lpstr>보너스(시간이 남는다면…)</vt:lpstr>
      <vt:lpstr>교과서에 속지 마세요</vt:lpstr>
      <vt:lpstr>교과서에 속지 마세요</vt:lpstr>
      <vt:lpstr>교과서에 속지 마세요</vt:lpstr>
      <vt:lpstr>원소가 그래서 정확히 뭔가요</vt:lpstr>
      <vt:lpstr>원소가 그래서 정확히 뭔가요</vt:lpstr>
      <vt:lpstr>원소가 그래서 정확히 뭔가요</vt:lpstr>
      <vt:lpstr>왜 교과서에서 거짓말해요</vt:lpstr>
      <vt:lpstr>왜 교과서에서 거짓말해요</vt:lpstr>
      <vt:lpstr>왜 교과서에서 거짓말해요</vt:lpstr>
      <vt:lpstr>왜 교과서에서 거짓말해요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이하승</dc:creator>
  <cp:lastModifiedBy>이하승</cp:lastModifiedBy>
  <cp:revision>20</cp:revision>
  <dcterms:created xsi:type="dcterms:W3CDTF">2026-05-14T01:33:37Z</dcterms:created>
  <dcterms:modified xsi:type="dcterms:W3CDTF">2026-05-17T17:09:10Z</dcterms:modified>
</cp:coreProperties>
</file>