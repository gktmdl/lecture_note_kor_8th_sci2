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60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57" r:id="rId13"/>
    <p:sldId id="274" r:id="rId14"/>
    <p:sldId id="271" r:id="rId15"/>
    <p:sldId id="272" r:id="rId16"/>
    <p:sldId id="273" r:id="rId17"/>
    <p:sldId id="275" r:id="rId18"/>
    <p:sldId id="277" r:id="rId19"/>
    <p:sldId id="278" r:id="rId20"/>
    <p:sldId id="279" r:id="rId21"/>
    <p:sldId id="280" r:id="rId22"/>
    <p:sldId id="288" r:id="rId23"/>
    <p:sldId id="282" r:id="rId24"/>
    <p:sldId id="283" r:id="rId25"/>
    <p:sldId id="281" r:id="rId26"/>
    <p:sldId id="284" r:id="rId27"/>
    <p:sldId id="285" r:id="rId28"/>
    <p:sldId id="286" r:id="rId29"/>
    <p:sldId id="287" r:id="rId30"/>
    <p:sldId id="289" r:id="rId31"/>
    <p:sldId id="290" r:id="rId32"/>
    <p:sldId id="291" r:id="rId33"/>
    <p:sldId id="292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E1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3380E-7866-46EC-8479-B292BEF9872E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A4170-281F-443C-A388-A7EFB6E2DD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5390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A4170-281F-443C-A388-A7EFB6E2DD9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816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2D9535-6477-F51A-E7E2-8BDF6C5E7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0D82E6-413C-9034-0568-C28D502FC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AD6320-B0E6-A26D-00B7-D93783E8C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22CCA-EFA1-499B-9EC2-F0C0E953D718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C88C80-075E-EF8F-8D6C-7FDC47E8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2F5C46-40FD-85B8-5664-2AA5F7889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21275-946E-4594-B13A-8DB0A417D2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921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515A4F-F06C-BF61-23A0-34DFCE6D9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8B2DFA-658B-53E8-11C9-22A749442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60DA5D-8743-6D3B-E8F3-99F352F82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22CCA-EFA1-499B-9EC2-F0C0E953D718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0447F0-D95B-9916-6A8D-140DAF2B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8439B7-FC1E-C01D-FBF8-D39388886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21275-946E-4594-B13A-8DB0A417D2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532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9646EB-F54C-69C5-DE5A-5E6DE3894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80DF5A-7AE7-5AD2-E7AA-8CF45EC8A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B0A820-A79B-7E8F-457B-4188219B3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22CCA-EFA1-499B-9EC2-F0C0E953D718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9FE193-2785-D25B-E540-1F4019AD0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78BA81-E7C4-6074-C432-012D754A6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21275-946E-4594-B13A-8DB0A417D2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1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E3B80F-AC61-F648-DBF3-6E79BAC5B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EF7779-B6C3-24B0-ABE9-ADBFAA15E4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B4CBF1-C523-79EF-5A2A-8D599FB0F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EBA227-DC53-400E-B1E3-3321612A6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22CCA-EFA1-499B-9EC2-F0C0E953D718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D6ACD0-9FD3-08FF-C090-B5652F708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9B0541-2CED-EFD9-4438-567AE4C87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21275-946E-4594-B13A-8DB0A417D2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9433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77727C-40C1-5A23-068E-BD1816566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A844CA-121E-8CAB-DB5D-A90CACEFD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3AF0BC-6958-A1AA-28A0-384C26D0E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327C87-6913-EC07-319D-CF53BF626F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3E84FD-6E09-D41C-CC20-DF94C8B95A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A3DD2E4-7AAB-D5EB-4756-FFB50BC5A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22CCA-EFA1-499B-9EC2-F0C0E953D718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4414E1C-EB2C-E9E0-A657-63803E666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72816DB-3C5A-623D-E643-5092DD30E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21275-946E-4594-B13A-8DB0A417D2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56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DB2E34-9E8D-4AE9-A324-AEF06F378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5E33C0-69FD-E5DD-7700-14F6594A5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22CCA-EFA1-499B-9EC2-F0C0E953D718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C8B73A-69AD-CAE3-9188-1746B0280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551A15-090A-AA0B-E90F-B0E6A3E75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21275-946E-4594-B13A-8DB0A417D2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936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12E1568-E10D-9824-BD12-8D79FEA96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22CCA-EFA1-499B-9EC2-F0C0E953D718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0480EB7-BDD3-F406-ECE1-45568FCFE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5677B6-59F3-4FAC-011E-CFB4D78C4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21275-946E-4594-B13A-8DB0A417D2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982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A78323-204C-7B9D-6BFA-5C2C203F4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2C2824-34FE-90D3-DD84-A3A7C7267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5DA058-7ACF-E75D-09B3-B7F3F94BA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3CD17E-9E69-37DA-6095-193DC0EDC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22CCA-EFA1-499B-9EC2-F0C0E953D718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034500-62EF-10CB-74C3-712E0D5F6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305F36-68F4-CBDA-0C54-5FA585BF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21275-946E-4594-B13A-8DB0A417D2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8346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F1A7AF-4EB7-D770-285E-075764919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BC6B9A1-DFB2-73CD-93B3-69EC3D68D2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0D62AB-B129-226A-339F-78E8D1645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CF1A0B-64BF-3489-D70C-86A9B450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22CCA-EFA1-499B-9EC2-F0C0E953D718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3DD571-A21A-780A-C1F5-482AFD778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99B804-5343-0EF2-430A-5D2C5C636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21275-946E-4594-B13A-8DB0A417D2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703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B01B7A-4BCC-2C42-3942-C323DC38F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12EF1C-382D-7DFE-7E70-0A7D8DF7C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20E699-1A2A-2B21-C632-263AA9A46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22CCA-EFA1-499B-9EC2-F0C0E953D718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D3A6F-2AD0-5AC3-E5C3-E82BBF34D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67E0D6-37AA-E4DB-0CD1-DBE221A38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21275-946E-4594-B13A-8DB0A417D2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406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1197057-F557-8F12-0300-208CEC4CC0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418153-D5FB-7FB0-572B-BB634B4C2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022F39-DAF1-7928-B77C-8A1FC38C3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22CCA-EFA1-499B-9EC2-F0C0E953D718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2A9576-AE27-DA75-FCB9-28F4D27F4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BAF3E0-E568-6823-94FC-15465F9D8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21275-946E-4594-B13A-8DB0A417D2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2490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1799F42-B5C3-60AA-E41C-853134DED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172C04-E093-D33E-0FC7-CF8AD9AEF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E54249-8D33-AD35-8545-8518A62337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922CCA-EFA1-499B-9EC2-F0C0E953D718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A89956-CE6A-D73B-B737-0FAD37EE67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146E00-3A48-B8A0-E495-6FED53960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221275-946E-4594-B13A-8DB0A417D2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308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2708FF-02C7-2130-A275-FD8D9C273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806E5B-1B6D-B176-C4F3-2F1C930B4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852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7BB67E-08AF-39F9-96C9-2FFF747C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지난 시간에 이어서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A49C42-56C5-E5FF-A62C-585331E30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원소마다 있는 알파벳들은 무엇을 의미할까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6EB846B-A3F6-82A1-7DF4-0090853E86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305"/>
          <a:stretch>
            <a:fillRect/>
          </a:stretch>
        </p:blipFill>
        <p:spPr>
          <a:xfrm>
            <a:off x="838200" y="2400404"/>
            <a:ext cx="8519154" cy="39114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73BE372-1527-AD53-1B37-505600B1D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191" y="5726488"/>
            <a:ext cx="2006772" cy="59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828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A86C8-13B6-7B07-F876-7423CDA00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좋은 기호가 왜 필요할까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FDEE16-15BE-8E73-5EB2-8D0FF4337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나쁜 기호의 예</a:t>
            </a:r>
            <a:r>
              <a:rPr lang="en-US" altLang="ko-KR" dirty="0"/>
              <a:t>:</a:t>
            </a:r>
            <a:endParaRPr lang="ko-KR" altLang="en-US" dirty="0"/>
          </a:p>
        </p:txBody>
      </p:sp>
      <p:pic>
        <p:nvPicPr>
          <p:cNvPr id="5" name="그림 4" descr="이만근 교수와 함께 수학의 고향을 찾아서]&lt;3&gt; 아랍국가 이집트 車번호판엔 '아라비아 숫자'가 없다｜동아일보">
            <a:extLst>
              <a:ext uri="{FF2B5EF4-FFF2-40B4-BE49-F238E27FC236}">
                <a16:creationId xmlns:a16="http://schemas.microsoft.com/office/drawing/2014/main" id="{0D5CA816-BCB3-0605-7FB6-65F6447BC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34608"/>
            <a:ext cx="5733938" cy="224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37A15-4902-53D2-DAC5-88295D197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C9FD64-32FE-A3FA-C61B-606FE8365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좋은 기호가 왜 필요할까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53C53D-6D3C-8BEF-A029-B4117EB67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나쁜 기호의 예</a:t>
            </a:r>
            <a:r>
              <a:rPr lang="en-US" altLang="ko-KR" dirty="0"/>
              <a:t>:</a:t>
            </a:r>
            <a:endParaRPr lang="ko-KR" altLang="en-US" dirty="0"/>
          </a:p>
        </p:txBody>
      </p:sp>
      <p:pic>
        <p:nvPicPr>
          <p:cNvPr id="5" name="그림 4" descr="이만근 교수와 함께 수학의 고향을 찾아서]&lt;3&gt; 아랍국가 이집트 車번호판엔 '아라비아 숫자'가 없다｜동아일보">
            <a:extLst>
              <a:ext uri="{FF2B5EF4-FFF2-40B4-BE49-F238E27FC236}">
                <a16:creationId xmlns:a16="http://schemas.microsoft.com/office/drawing/2014/main" id="{FD93B491-9753-BE27-F403-2BF74B959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34608"/>
            <a:ext cx="5733938" cy="224770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FF3FACC-1D17-F782-08A3-8103D8FF7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138" y="2807275"/>
            <a:ext cx="5022723" cy="197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820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FEA55-89BB-0BFE-F5D4-04E94B5F5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6D4F00-D4CD-5030-1129-87C1F877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좋은 기호가 왜 필요할까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3BD037-069B-915C-945F-8F79B80B4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나쁜 기호의 예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쓰기 어려움</a:t>
            </a:r>
            <a:r>
              <a:rPr lang="en-US" altLang="ko-KR" dirty="0"/>
              <a:t>, </a:t>
            </a:r>
            <a:r>
              <a:rPr lang="ko-KR" altLang="en-US" dirty="0"/>
              <a:t>알아보기 어려움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pic>
        <p:nvPicPr>
          <p:cNvPr id="5" name="그림 4" descr="이만근 교수와 함께 수학의 고향을 찾아서]&lt;3&gt; 아랍국가 이집트 車번호판엔 '아라비아 숫자'가 없다｜동아일보">
            <a:extLst>
              <a:ext uri="{FF2B5EF4-FFF2-40B4-BE49-F238E27FC236}">
                <a16:creationId xmlns:a16="http://schemas.microsoft.com/office/drawing/2014/main" id="{6B6C8F23-92C6-97EE-442E-896B23A77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34608"/>
            <a:ext cx="5733938" cy="224770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3C9743D-A811-7AD2-3314-348032E0D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138" y="2807275"/>
            <a:ext cx="5022723" cy="197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748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A5ACA6-4979-7841-65C2-1760A92EA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과학과 의사소통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A48486-46BF-0733-46B3-D377215B0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 descr="Science Tablet And Portrait Of A Male Scientist Doing Research With  Technology In A Medical Laboratory Happy Smile And Man Chemist Or Biologist  Working On A Mobile Device In A Pharmaceutical Lab">
            <a:extLst>
              <a:ext uri="{FF2B5EF4-FFF2-40B4-BE49-F238E27FC236}">
                <a16:creationId xmlns:a16="http://schemas.microsoft.com/office/drawing/2014/main" id="{E04EC789-18D1-DC97-36DE-CA8C61BD0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472" y="3414438"/>
            <a:ext cx="4270635" cy="2897462"/>
          </a:xfrm>
          <a:prstGeom prst="rect">
            <a:avLst/>
          </a:prstGeom>
        </p:spPr>
      </p:pic>
      <p:sp>
        <p:nvSpPr>
          <p:cNvPr id="6" name="말풍선: 사각형 5">
            <a:extLst>
              <a:ext uri="{FF2B5EF4-FFF2-40B4-BE49-F238E27FC236}">
                <a16:creationId xmlns:a16="http://schemas.microsoft.com/office/drawing/2014/main" id="{B83401B2-EB4A-4BB9-4BA8-237E24DA331F}"/>
              </a:ext>
            </a:extLst>
          </p:cNvPr>
          <p:cNvSpPr/>
          <p:nvPr/>
        </p:nvSpPr>
        <p:spPr>
          <a:xfrm>
            <a:off x="5704551" y="1855779"/>
            <a:ext cx="4116106" cy="1175708"/>
          </a:xfrm>
          <a:prstGeom prst="wedgeRect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212597-5F99-018D-6A17-726E404195A4}"/>
              </a:ext>
            </a:extLst>
          </p:cNvPr>
          <p:cNvSpPr txBox="1"/>
          <p:nvPr/>
        </p:nvSpPr>
        <p:spPr>
          <a:xfrm>
            <a:off x="5788152" y="2017029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내가 이번에       을 만들려고 </a:t>
            </a:r>
            <a:endParaRPr lang="en-US" altLang="ko-KR" dirty="0"/>
          </a:p>
          <a:p>
            <a:r>
              <a:rPr lang="ko-KR" altLang="en-US" dirty="0"/>
              <a:t>    을         원에 사서 끓여봤는데</a:t>
            </a:r>
            <a:r>
              <a:rPr lang="en-US" altLang="ko-KR" dirty="0"/>
              <a:t>…</a:t>
            </a:r>
            <a:r>
              <a:rPr lang="ko-KR" altLang="en-US" dirty="0"/>
              <a:t>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79A8310-2A62-60FF-F3D1-A882C4BC9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179" y="1954894"/>
            <a:ext cx="458576" cy="37850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386FB3C-6B76-89F5-79EF-E0BE63A1B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3684" y="2299818"/>
            <a:ext cx="338328" cy="54508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49D24B3-9A4C-8D43-EF0D-C9F9D6344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790" y="2333401"/>
            <a:ext cx="467788" cy="48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987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2734A-0B42-A79B-1F04-91B2F8F87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72D55-38F8-4B77-D697-AAFA1AE0E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과학과 의사소통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02E596-E645-B4E3-66BA-2CAE3BAEF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과학은 지식의 </a:t>
            </a:r>
            <a:r>
              <a:rPr lang="en-US" altLang="ko-KR" dirty="0"/>
              <a:t>‘</a:t>
            </a:r>
            <a:r>
              <a:rPr lang="ko-KR" altLang="en-US" dirty="0"/>
              <a:t>설명</a:t>
            </a:r>
            <a:r>
              <a:rPr lang="en-US" altLang="ko-KR" dirty="0"/>
              <a:t>’</a:t>
            </a:r>
            <a:r>
              <a:rPr lang="ko-KR" altLang="en-US" dirty="0"/>
              <a:t>을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필수로 생각함</a:t>
            </a:r>
            <a:endParaRPr lang="en-US" altLang="ko-KR" dirty="0"/>
          </a:p>
        </p:txBody>
      </p:sp>
      <p:pic>
        <p:nvPicPr>
          <p:cNvPr id="5" name="그림 4" descr="Science Tablet And Portrait Of A Male Scientist Doing Research With  Technology In A Medical Laboratory Happy Smile And Man Chemist Or Biologist  Working On A Mobile Device In A Pharmaceutical Lab">
            <a:extLst>
              <a:ext uri="{FF2B5EF4-FFF2-40B4-BE49-F238E27FC236}">
                <a16:creationId xmlns:a16="http://schemas.microsoft.com/office/drawing/2014/main" id="{402C6850-7EF4-5F43-B6EC-C93550FE4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472" y="3414438"/>
            <a:ext cx="4270635" cy="2897462"/>
          </a:xfrm>
          <a:prstGeom prst="rect">
            <a:avLst/>
          </a:prstGeom>
        </p:spPr>
      </p:pic>
      <p:sp>
        <p:nvSpPr>
          <p:cNvPr id="6" name="말풍선: 사각형 5">
            <a:extLst>
              <a:ext uri="{FF2B5EF4-FFF2-40B4-BE49-F238E27FC236}">
                <a16:creationId xmlns:a16="http://schemas.microsoft.com/office/drawing/2014/main" id="{C2E9EEC5-8ACE-6700-B4EE-1250F6C4760C}"/>
              </a:ext>
            </a:extLst>
          </p:cNvPr>
          <p:cNvSpPr/>
          <p:nvPr/>
        </p:nvSpPr>
        <p:spPr>
          <a:xfrm>
            <a:off x="5704551" y="1855779"/>
            <a:ext cx="4116106" cy="1175708"/>
          </a:xfrm>
          <a:prstGeom prst="wedgeRect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88B0E0-48B6-5AA2-6CB4-60268D0315F7}"/>
              </a:ext>
            </a:extLst>
          </p:cNvPr>
          <p:cNvSpPr txBox="1"/>
          <p:nvPr/>
        </p:nvSpPr>
        <p:spPr>
          <a:xfrm>
            <a:off x="5788152" y="2017029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내가 이번에       을 만들려고 </a:t>
            </a:r>
            <a:endParaRPr lang="en-US" altLang="ko-KR" dirty="0"/>
          </a:p>
          <a:p>
            <a:r>
              <a:rPr lang="ko-KR" altLang="en-US" dirty="0"/>
              <a:t>    을         원에 사서 끓여봤는데</a:t>
            </a:r>
            <a:r>
              <a:rPr lang="en-US" altLang="ko-KR" dirty="0"/>
              <a:t>…</a:t>
            </a:r>
            <a:r>
              <a:rPr lang="ko-KR" altLang="en-US" dirty="0"/>
              <a:t>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4AD6E1C-434C-FE5A-0B32-5DABAB536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179" y="1954894"/>
            <a:ext cx="458576" cy="37850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56A06B8-07DE-6969-202B-E97B448E75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3684" y="2299818"/>
            <a:ext cx="338328" cy="54508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9BFFBF6-E169-2F5F-E481-6ED482E356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790" y="2333401"/>
            <a:ext cx="467788" cy="48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72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5D8C4F-4FE2-05CC-9AF4-C39D6F0C4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통일된 표현의 중요성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1B3A6F-7D20-2F48-3FE1-2522BDFC8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49B8750-D18B-EC78-43C9-330009778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848" y="1823160"/>
            <a:ext cx="4942952" cy="432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433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706D1-9A0E-05FA-CEDF-C67A7CDDA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2F4E2-4D27-6416-FB8A-DAD92BA6C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통일된 표현의 중요성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BFB733-1B03-CAF7-8266-C904DE110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언어의 사회성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844CF17-BDAD-6FF1-C537-FEF6D1C09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848" y="1823160"/>
            <a:ext cx="4942952" cy="432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765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4A887-3278-928C-98BC-C160CF61D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2502C-5FE4-2580-5C7C-31007901D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통일된 표현의 중요성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A09953-BB60-0942-4A3D-825ACD83B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언어의 사회성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의사소통의 편리함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B1D0D57-96AF-A84B-6ABA-C4A738D16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848" y="1823160"/>
            <a:ext cx="4942952" cy="432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155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F5EAC-8D72-A34C-BDF5-26994C90F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과학자들의 </a:t>
            </a:r>
            <a:r>
              <a:rPr lang="en-US" altLang="ko-KR" dirty="0"/>
              <a:t>‘</a:t>
            </a:r>
            <a:r>
              <a:rPr lang="ko-KR" altLang="en-US" dirty="0"/>
              <a:t>약속</a:t>
            </a:r>
            <a:r>
              <a:rPr lang="en-US" altLang="ko-KR" dirty="0"/>
              <a:t>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CCE8BF-DF91-3AD0-4A71-11C4C6EA9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원소는 </a:t>
            </a:r>
            <a:r>
              <a:rPr lang="en-US" altLang="ko-KR" dirty="0"/>
              <a:t>118</a:t>
            </a:r>
            <a:r>
              <a:rPr lang="ko-KR" altLang="en-US" dirty="0"/>
              <a:t>종 뿐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짧은 기호를 줘서 쓰기 편하게 하자</a:t>
            </a:r>
          </a:p>
        </p:txBody>
      </p:sp>
    </p:spTree>
    <p:extLst>
      <p:ext uri="{BB962C8B-B14F-4D97-AF65-F5344CB8AC3E}">
        <p14:creationId xmlns:p14="http://schemas.microsoft.com/office/powerpoint/2010/main" val="3396001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18AFCA-B031-B897-A631-2736EA56C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원소 기호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FC7DD8-150D-0FED-4AEE-A2AF47F12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원소마다 대응되는 기호를 </a:t>
            </a:r>
            <a:r>
              <a:rPr lang="en-US" altLang="ko-KR" dirty="0"/>
              <a:t>‘</a:t>
            </a:r>
            <a:r>
              <a:rPr lang="ko-KR" altLang="en-US" dirty="0"/>
              <a:t>약속</a:t>
            </a:r>
            <a:r>
              <a:rPr lang="en-US" altLang="ko-KR" dirty="0"/>
              <a:t>’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FE6E21D-6C73-9A55-E33E-39504FBD3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392003"/>
            <a:ext cx="7101840" cy="378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948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431AF5-ED73-BA58-63E7-A30065FC2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113" y="45015"/>
            <a:ext cx="10515600" cy="1325563"/>
          </a:xfrm>
        </p:spPr>
        <p:txBody>
          <a:bodyPr/>
          <a:lstStyle/>
          <a:p>
            <a:r>
              <a:rPr lang="ko-KR" altLang="en-US" dirty="0" err="1"/>
              <a:t>알아둬야</a:t>
            </a:r>
            <a:r>
              <a:rPr lang="ko-KR" altLang="en-US" dirty="0"/>
              <a:t> 할 것들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6E8CB3-C4A6-04E4-7DE1-4EE13265E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08" y="1487776"/>
            <a:ext cx="10515600" cy="4351338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D818C10-2744-CE4F-65D3-DEFC17814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88" y="425878"/>
            <a:ext cx="767607" cy="400426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B14F56F-A328-51B5-6DCB-884467D35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295" y="1418414"/>
            <a:ext cx="761475" cy="301173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99BC9B0-D961-4BC2-4E9A-792A47C607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313" y="1427023"/>
            <a:ext cx="4596226" cy="200197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11AF7FF-9432-308B-6909-F4B61C5789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3323" y="425878"/>
            <a:ext cx="779216" cy="100114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4186130-66C7-CDEA-D19E-1AA42218EF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8027" y="3721595"/>
            <a:ext cx="761476" cy="100726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5E2D3BD-AA51-254E-E328-77042E44AF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9503" y="3718534"/>
            <a:ext cx="771614" cy="100114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365247B-4942-527C-2280-D3A5B0B6CF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1117" y="3718534"/>
            <a:ext cx="755295" cy="99253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B27D655-A39D-1D2A-0590-1CD777999D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6412" y="3718534"/>
            <a:ext cx="727406" cy="99253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BDFDAA1-CCAA-CABB-3930-4A1EC0B43D5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3818" y="3718534"/>
            <a:ext cx="1523752" cy="992536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4EAE0F6-E90B-1E92-DE0D-D28E4C24A84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44541" y="3429000"/>
            <a:ext cx="779216" cy="1038954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9D6A8350-B382-4D12-917E-79C3665F427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85295" y="4440954"/>
            <a:ext cx="769442" cy="100727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7F3F584E-4783-B75E-22EB-5AF87AD636C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61730" y="5250916"/>
            <a:ext cx="744207" cy="981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B66FCAD1-6FF0-4847-BA22-00EFC33733A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44541" y="4438755"/>
            <a:ext cx="779216" cy="101298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332F79B4-8D24-5B0C-2FAA-E172A927C1B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85294" y="5422683"/>
            <a:ext cx="761475" cy="98100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B132BDE8-B941-9F91-92B4-BE692F41A21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11782" y="5240940"/>
            <a:ext cx="2282036" cy="990976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B1822967-3E56-F26F-7950-297CF94ADAC6}"/>
              </a:ext>
            </a:extLst>
          </p:cNvPr>
          <p:cNvSpPr/>
          <p:nvPr/>
        </p:nvSpPr>
        <p:spPr>
          <a:xfrm>
            <a:off x="7671407" y="5314365"/>
            <a:ext cx="770347" cy="981000"/>
          </a:xfrm>
          <a:prstGeom prst="rect">
            <a:avLst/>
          </a:prstGeom>
          <a:solidFill>
            <a:srgbClr val="B1E1F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61CCBE-A6CB-7307-B721-9A0FAC0D35C7}"/>
              </a:ext>
            </a:extLst>
          </p:cNvPr>
          <p:cNvSpPr txBox="1"/>
          <p:nvPr/>
        </p:nvSpPr>
        <p:spPr>
          <a:xfrm>
            <a:off x="7827980" y="5463544"/>
            <a:ext cx="45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ko-KR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D0CD13-A7B2-5709-AA76-71A379DBA707}"/>
              </a:ext>
            </a:extLst>
          </p:cNvPr>
          <p:cNvSpPr txBox="1"/>
          <p:nvPr/>
        </p:nvSpPr>
        <p:spPr>
          <a:xfrm>
            <a:off x="7707125" y="5996197"/>
            <a:ext cx="868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우라늄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14CA6E-0D1D-D538-7FDE-6DC96E38815F}"/>
              </a:ext>
            </a:extLst>
          </p:cNvPr>
          <p:cNvSpPr txBox="1"/>
          <p:nvPr/>
        </p:nvSpPr>
        <p:spPr>
          <a:xfrm>
            <a:off x="7677667" y="5301046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92</a:t>
            </a:r>
            <a:endParaRPr lang="ko-KR" altLang="en-US" sz="14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C818F6B-B11A-6557-1C7F-ECA591FF9DFF}"/>
              </a:ext>
            </a:extLst>
          </p:cNvPr>
          <p:cNvSpPr/>
          <p:nvPr/>
        </p:nvSpPr>
        <p:spPr>
          <a:xfrm>
            <a:off x="8454249" y="5322974"/>
            <a:ext cx="770347" cy="981000"/>
          </a:xfrm>
          <a:prstGeom prst="rect">
            <a:avLst/>
          </a:prstGeom>
          <a:solidFill>
            <a:srgbClr val="B1E1F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48CCC0-0C70-6317-2721-48A45C803A30}"/>
              </a:ext>
            </a:extLst>
          </p:cNvPr>
          <p:cNvSpPr txBox="1"/>
          <p:nvPr/>
        </p:nvSpPr>
        <p:spPr>
          <a:xfrm>
            <a:off x="8525937" y="5454934"/>
            <a:ext cx="783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</a:t>
            </a:r>
            <a:endParaRPr lang="ko-KR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0076070-8A65-0CFC-CE3D-C4846BFD2140}"/>
              </a:ext>
            </a:extLst>
          </p:cNvPr>
          <p:cNvSpPr txBox="1"/>
          <p:nvPr/>
        </p:nvSpPr>
        <p:spPr>
          <a:xfrm>
            <a:off x="8393208" y="6012595"/>
            <a:ext cx="962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플루토늄</a:t>
            </a:r>
            <a:endParaRPr lang="ko-KR" altLang="en-US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B3D676-0459-4370-C419-08A9E57B16E6}"/>
              </a:ext>
            </a:extLst>
          </p:cNvPr>
          <p:cNvSpPr txBox="1"/>
          <p:nvPr/>
        </p:nvSpPr>
        <p:spPr>
          <a:xfrm>
            <a:off x="8460509" y="5309655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94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07633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5C531-9F4E-39E4-E04A-9BAA2698E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9A40A7-CDAD-2646-5000-6A2C87ED0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몇 가지만 알아보면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036B2E-0BFF-E513-0C3B-37C42BFC1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H</a:t>
            </a:r>
            <a:r>
              <a:rPr lang="en-US" altLang="ko-KR" dirty="0"/>
              <a:t>ydrogen (</a:t>
            </a:r>
            <a:r>
              <a:rPr lang="en-US" altLang="ko-KR" dirty="0" err="1"/>
              <a:t>Hydro+gen</a:t>
            </a:r>
            <a:r>
              <a:rPr lang="en-US" altLang="ko-KR" dirty="0"/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211F58-D0B7-C1D7-993D-16A871E85E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981"/>
          <a:stretch>
            <a:fillRect/>
          </a:stretch>
        </p:blipFill>
        <p:spPr>
          <a:xfrm>
            <a:off x="8545285" y="1495155"/>
            <a:ext cx="1540547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094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4FF45-4E68-93BC-A952-E1E3B1F1D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7065B3-F17C-E90B-3F83-5E768FFC4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몇 가지만 알아보면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96B4B2-BF51-1BA1-23FC-B81A7FB51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H</a:t>
            </a:r>
            <a:r>
              <a:rPr lang="en-US" altLang="ko-KR" dirty="0"/>
              <a:t>ydrogen (</a:t>
            </a:r>
            <a:r>
              <a:rPr lang="en-US" altLang="ko-KR" dirty="0" err="1"/>
              <a:t>Hydro+gen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He</a:t>
            </a:r>
            <a:r>
              <a:rPr lang="en-US" altLang="ko-KR" dirty="0"/>
              <a:t>lium</a:t>
            </a:r>
            <a:endParaRPr lang="ko-KR" altLang="en-US" dirty="0"/>
          </a:p>
          <a:p>
            <a:endParaRPr lang="en-US" altLang="ko-KR" dirty="0"/>
          </a:p>
        </p:txBody>
      </p:sp>
      <p:pic>
        <p:nvPicPr>
          <p:cNvPr id="10" name="내용 개체 틀 6">
            <a:extLst>
              <a:ext uri="{FF2B5EF4-FFF2-40B4-BE49-F238E27FC236}">
                <a16:creationId xmlns:a16="http://schemas.microsoft.com/office/drawing/2014/main" id="{DFF98C72-AE0A-C9F2-3F72-53CC77FE83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690"/>
          <a:stretch>
            <a:fillRect/>
          </a:stretch>
        </p:blipFill>
        <p:spPr>
          <a:xfrm>
            <a:off x="8507181" y="4001294"/>
            <a:ext cx="1578652" cy="193384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9C5AE58-A156-388A-747F-A03749B6DC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981"/>
          <a:stretch>
            <a:fillRect/>
          </a:stretch>
        </p:blipFill>
        <p:spPr>
          <a:xfrm>
            <a:off x="8545285" y="1495155"/>
            <a:ext cx="1540547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971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E6DDA-3AEC-CF08-64A2-B4B54C7F0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629B1D-4599-BB1B-0166-84D507F4F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몇 가지만 알아보면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B76527-4BB6-ADD4-78F3-6225EA800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Na</a:t>
            </a:r>
            <a:r>
              <a:rPr lang="en-US" altLang="ko-KR" dirty="0"/>
              <a:t>trium</a:t>
            </a:r>
          </a:p>
          <a:p>
            <a:endParaRPr lang="en-US" altLang="ko-KR" dirty="0"/>
          </a:p>
          <a:p>
            <a:r>
              <a:rPr lang="en-US" altLang="ko-KR" b="1" dirty="0"/>
              <a:t>M</a:t>
            </a:r>
            <a:r>
              <a:rPr lang="en-US" altLang="ko-KR" dirty="0"/>
              <a:t>a</a:t>
            </a:r>
            <a:r>
              <a:rPr lang="en-US" altLang="ko-KR" b="1" dirty="0"/>
              <a:t>g</a:t>
            </a:r>
            <a:r>
              <a:rPr lang="en-US" altLang="ko-KR" dirty="0"/>
              <a:t>nesium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4B0CB50-2B8B-0BED-B023-EC79DC72B9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611"/>
          <a:stretch>
            <a:fillRect/>
          </a:stretch>
        </p:blipFill>
        <p:spPr>
          <a:xfrm>
            <a:off x="7941335" y="1447523"/>
            <a:ext cx="2994889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015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FE4A1A-034D-79C3-AA0F-8D1DFC09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헷갈리는 것들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009EB8-41B4-2680-15A7-DF1B6549B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K</a:t>
            </a:r>
            <a:r>
              <a:rPr lang="en-US" altLang="ko-KR" dirty="0"/>
              <a:t>alium</a:t>
            </a:r>
          </a:p>
          <a:p>
            <a:endParaRPr lang="en-US" altLang="ko-KR" b="1" dirty="0"/>
          </a:p>
          <a:p>
            <a:r>
              <a:rPr lang="en-US" altLang="ko-KR" b="1" dirty="0"/>
              <a:t>Ca</a:t>
            </a:r>
            <a:r>
              <a:rPr lang="en-US" altLang="ko-KR" dirty="0"/>
              <a:t>lcium</a:t>
            </a:r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dirty="0"/>
              <a:t>K</a:t>
            </a:r>
            <a:r>
              <a:rPr lang="ko-KR" altLang="en-US" dirty="0"/>
              <a:t>가 먼저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2B98BB2-E4EC-C253-DBF8-6A801689C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7581" y="2084178"/>
            <a:ext cx="1790950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944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34068-40D5-AD94-383D-5887B0C07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4558A2-E724-D934-76D0-7A525D8BB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아무튼 이걸 외워야 하는데요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923F57-7E84-1EC1-FA89-29DF31424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가장 좋은 암기 방법이 </a:t>
            </a:r>
            <a:r>
              <a:rPr lang="ko-KR" altLang="en-US" dirty="0" err="1"/>
              <a:t>뭘까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7748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7CF859-4EEF-D0C1-E9CC-D57225BBB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게임을 합시다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E18B06-E5C2-12AC-4DEB-C3E8730E2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교과서 활동 </a:t>
            </a:r>
            <a:r>
              <a:rPr lang="en-US" altLang="ko-KR" dirty="0"/>
              <a:t>-&gt;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70EC92A-45BF-20CD-88EE-B14D5858C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250753"/>
            <a:ext cx="7442271" cy="480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54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1192D-0AEB-1344-131E-0338B8F1F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387CC-B095-0A01-8C61-C66A66529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게임을 합시다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99AEA5-F32D-AFDE-1FDE-1E87269AE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교과서 활동 </a:t>
            </a:r>
            <a:r>
              <a:rPr lang="en-US" altLang="ko-KR" dirty="0"/>
              <a:t>-&gt; 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흠</a:t>
            </a:r>
            <a:r>
              <a:rPr lang="en-US" altLang="ko-KR" dirty="0"/>
              <a:t>…</a:t>
            </a:r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1833500-8E13-D469-95E4-5E5A0FE37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250753"/>
            <a:ext cx="7442271" cy="480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679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624330-8A10-52EE-694D-D3F945FE0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도둑잡기를 합시다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E5B57D-6D96-6D82-CCC1-802B7D679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71134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43929-7A66-7B59-7A13-F7D260191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D16FB9-E87E-5B1F-7B69-021062817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도둑잡기를 합시다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E3D0FB-3D5E-0D73-83E0-37BDA31BE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원소 기호 카드 </a:t>
            </a:r>
            <a:r>
              <a:rPr lang="en-US" altLang="ko-KR" dirty="0"/>
              <a:t>36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/>
              <a:t>원소 이름 카드 </a:t>
            </a:r>
            <a:r>
              <a:rPr lang="en-US" altLang="ko-KR" dirty="0"/>
              <a:t>36</a:t>
            </a:r>
            <a:r>
              <a:rPr lang="ko-KR" altLang="en-US" dirty="0"/>
              <a:t>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624647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A8BC1-09FE-0931-9558-B53BEC425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1B557D-8803-3EB6-CED4-E0BED59B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도둑잡기를 합시다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503A82-08B0-1A33-6DBC-8D10B29CE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원소 기호 카드 </a:t>
            </a:r>
            <a:r>
              <a:rPr lang="en-US" altLang="ko-KR" dirty="0"/>
              <a:t>36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/>
              <a:t>원소 이름 카드 </a:t>
            </a:r>
            <a:r>
              <a:rPr lang="en-US" altLang="ko-KR" dirty="0"/>
              <a:t>36</a:t>
            </a:r>
            <a:r>
              <a:rPr lang="ko-KR" altLang="en-US" dirty="0"/>
              <a:t>개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인은 인당 </a:t>
            </a:r>
            <a:r>
              <a:rPr lang="en-US" altLang="ko-KR" dirty="0"/>
              <a:t>8</a:t>
            </a:r>
            <a:r>
              <a:rPr lang="ko-KR" altLang="en-US" dirty="0"/>
              <a:t>개</a:t>
            </a:r>
            <a:r>
              <a:rPr lang="en-US" altLang="ko-KR" dirty="0"/>
              <a:t>, 4</a:t>
            </a:r>
            <a:r>
              <a:rPr lang="ko-KR" altLang="en-US" dirty="0"/>
              <a:t>인은 인당 </a:t>
            </a:r>
            <a:r>
              <a:rPr lang="en-US" altLang="ko-KR" dirty="0"/>
              <a:t>7</a:t>
            </a:r>
            <a:r>
              <a:rPr lang="ko-KR" altLang="en-US" dirty="0"/>
              <a:t>개로 시작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52629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29F84-6797-7874-44B7-837E2DF9B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A80596-731C-3A7B-2615-A41E22A09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도둑잡기를 합시다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9C2B31-CDF8-C4AA-7B48-0635B2DE7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원소 기호 카드 </a:t>
            </a:r>
            <a:r>
              <a:rPr lang="en-US" altLang="ko-KR" dirty="0"/>
              <a:t>36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/>
              <a:t>원소 이름 카드 </a:t>
            </a:r>
            <a:r>
              <a:rPr lang="en-US" altLang="ko-KR" dirty="0"/>
              <a:t>36</a:t>
            </a:r>
            <a:r>
              <a:rPr lang="ko-KR" altLang="en-US" dirty="0"/>
              <a:t>개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인은 인당 </a:t>
            </a:r>
            <a:r>
              <a:rPr lang="en-US" altLang="ko-KR" dirty="0"/>
              <a:t>8</a:t>
            </a:r>
            <a:r>
              <a:rPr lang="ko-KR" altLang="en-US" dirty="0"/>
              <a:t>개</a:t>
            </a:r>
            <a:r>
              <a:rPr lang="en-US" altLang="ko-KR" dirty="0"/>
              <a:t>, 4</a:t>
            </a:r>
            <a:r>
              <a:rPr lang="ko-KR" altLang="en-US" dirty="0"/>
              <a:t>인은 인당 </a:t>
            </a:r>
            <a:r>
              <a:rPr lang="en-US" altLang="ko-KR" dirty="0"/>
              <a:t>7</a:t>
            </a:r>
            <a:r>
              <a:rPr lang="ko-KR" altLang="en-US" dirty="0"/>
              <a:t>개로 시작</a:t>
            </a:r>
            <a:endParaRPr lang="en-US" altLang="ko-KR" dirty="0"/>
          </a:p>
          <a:p>
            <a:r>
              <a:rPr lang="ko-KR" altLang="en-US" dirty="0"/>
              <a:t>남은 카드 더미는 뒤집어서 중간에 둠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086701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7D819-05BF-6883-FE7C-8D86213F7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F3A987-B72B-70AD-18AE-1FD7A67EE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도둑잡기를 합시다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B7C9A0-FCA3-7265-915C-38A0CAD6F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순서대로 더미에서 한 장씩 가져옴</a:t>
            </a:r>
            <a:endParaRPr lang="en-US" altLang="ko-KR" dirty="0"/>
          </a:p>
        </p:txBody>
      </p:sp>
      <p:pic>
        <p:nvPicPr>
          <p:cNvPr id="4" name="그림 3" descr="복잡한 빨간색 뒷면 디자인의 카드 더미, 카드 놀이, 빨간 등, 쌓인 데크 PNG 일러스트 및 이미지 에 대한 무료 다운로드 -  Pngtree">
            <a:extLst>
              <a:ext uri="{FF2B5EF4-FFF2-40B4-BE49-F238E27FC236}">
                <a16:creationId xmlns:a16="http://schemas.microsoft.com/office/drawing/2014/main" id="{0BB98AAC-C1B8-3379-5127-83A9ED05D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758" y="1137411"/>
            <a:ext cx="1735074" cy="173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100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CA95D-A001-0AD6-A1BC-4CBBA898D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7EB7CA-A7A2-F278-C932-1ABF81784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도둑잡기를 합시다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574362-7532-1BA9-725E-59A817B47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순서대로 더미에서 한 장씩 가져옴</a:t>
            </a:r>
            <a:endParaRPr lang="en-US" altLang="ko-KR" dirty="0"/>
          </a:p>
          <a:p>
            <a:r>
              <a:rPr lang="ko-KR" altLang="en-US" dirty="0"/>
              <a:t>더미가 사라지면 오른쪽 친구의 카드를 한 장씩 뽑음</a:t>
            </a:r>
            <a:endParaRPr lang="en-US" altLang="ko-KR" dirty="0"/>
          </a:p>
        </p:txBody>
      </p:sp>
      <p:pic>
        <p:nvPicPr>
          <p:cNvPr id="4" name="그림 3" descr="크레용 신짱 04기 : 핸더랜드의 대모험 (1996) : 네이버 블로그">
            <a:extLst>
              <a:ext uri="{FF2B5EF4-FFF2-40B4-BE49-F238E27FC236}">
                <a16:creationId xmlns:a16="http://schemas.microsoft.com/office/drawing/2014/main" id="{B9C363EA-7563-0A81-8D48-203AF1B48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572" y="2897219"/>
            <a:ext cx="4268724" cy="240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237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A6FFF-B0B6-4611-5EE6-1ADB1225B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532F78-AD8D-BA2E-2EFB-4372AD176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도둑잡기를 합시다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6928C6-630C-8EA3-96E4-7889D6C90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순서대로 더미에서 한 장씩 가져옴</a:t>
            </a:r>
            <a:endParaRPr lang="en-US" altLang="ko-KR" dirty="0"/>
          </a:p>
          <a:p>
            <a:r>
              <a:rPr lang="ko-KR" altLang="en-US" dirty="0"/>
              <a:t>더미가 사라지면 오른쪽 친구의 카드를 한 장씩 뽑음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자신의 패에 같은 원소의 기호와 이름 카드가 있으면 내려놓음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E746761-F1D4-164A-B99A-64C8D84657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076"/>
          <a:stretch>
            <a:fillRect/>
          </a:stretch>
        </p:blipFill>
        <p:spPr>
          <a:xfrm>
            <a:off x="9145762" y="3891567"/>
            <a:ext cx="2038635" cy="125650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6056D73-2D29-0CD1-52E0-63D9A8857A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122"/>
          <a:stretch>
            <a:fillRect/>
          </a:stretch>
        </p:blipFill>
        <p:spPr>
          <a:xfrm>
            <a:off x="10024872" y="3891566"/>
            <a:ext cx="1159525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59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F19B7-BEB3-AC2F-4790-6E2E86E14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5DDEA8-AC91-875C-D1FF-28BC5F887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도둑잡기를 합시다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E096E7-CC5F-089F-81EC-7AB531C51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순서대로 더미에서 한 장씩 가져옴</a:t>
            </a:r>
            <a:endParaRPr lang="en-US" altLang="ko-KR" dirty="0"/>
          </a:p>
          <a:p>
            <a:r>
              <a:rPr lang="ko-KR" altLang="en-US" dirty="0"/>
              <a:t>더미가 사라지면 오른쪽 친구의 카드를 한 장씩 뽑음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자신의 패에 같은 원소의 기호와 이름 카드가 있으면 내려놓음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패를 전부 내려놓은 순서대로 순위가 결정</a:t>
            </a:r>
            <a:r>
              <a:rPr lang="en-US" altLang="ko-KR" dirty="0"/>
              <a:t> (</a:t>
            </a:r>
            <a:r>
              <a:rPr lang="ko-KR" altLang="en-US" dirty="0"/>
              <a:t>먼저 버리면 </a:t>
            </a:r>
            <a:r>
              <a:rPr lang="en-US" altLang="ko-KR" dirty="0"/>
              <a:t>1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614256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7C7564-77C2-42CD-0190-5FECB1092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도둑잡기 주의점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93472-933D-0F8E-6E9F-12331F4EA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순서는 무조건 </a:t>
            </a:r>
            <a:r>
              <a:rPr lang="en-US" altLang="ko-KR" dirty="0"/>
              <a:t>‘</a:t>
            </a:r>
            <a:r>
              <a:rPr lang="ko-KR" altLang="en-US" dirty="0"/>
              <a:t>반시계 방향</a:t>
            </a:r>
            <a:r>
              <a:rPr lang="en-US" altLang="ko-KR" dirty="0"/>
              <a:t>’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 descr="반 시계 방향 회전 - 무료 상호 작용개 아이콘">
            <a:extLst>
              <a:ext uri="{FF2B5EF4-FFF2-40B4-BE49-F238E27FC236}">
                <a16:creationId xmlns:a16="http://schemas.microsoft.com/office/drawing/2014/main" id="{650EA538-47B4-BE7A-EA23-6045BE230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796" y="1170432"/>
            <a:ext cx="1794332" cy="1794332"/>
          </a:xfrm>
          <a:prstGeom prst="rect">
            <a:avLst/>
          </a:prstGeom>
        </p:spPr>
      </p:pic>
      <p:pic>
        <p:nvPicPr>
          <p:cNvPr id="5" name="그림 4" descr="왼손잡이가 지배한다 : 전기와 자기">
            <a:extLst>
              <a:ext uri="{FF2B5EF4-FFF2-40B4-BE49-F238E27FC236}">
                <a16:creationId xmlns:a16="http://schemas.microsoft.com/office/drawing/2014/main" id="{25155DAB-F88B-60CD-79FF-6CF9E0A86E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35"/>
          <a:stretch>
            <a:fillRect/>
          </a:stretch>
        </p:blipFill>
        <p:spPr>
          <a:xfrm>
            <a:off x="8848344" y="1254252"/>
            <a:ext cx="2234184" cy="135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9911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F2F91-959F-57E5-16BA-7F0128D31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57EFAE-6DA6-2D75-4B84-77A6BD802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도둑잡기 주의점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6F0AC3-0173-DE1F-7F03-3B1AAFBA2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순서는 무조건 </a:t>
            </a:r>
            <a:r>
              <a:rPr lang="en-US" altLang="ko-KR" dirty="0"/>
              <a:t>‘</a:t>
            </a:r>
            <a:r>
              <a:rPr lang="ko-KR" altLang="en-US" dirty="0"/>
              <a:t>반시계 방향</a:t>
            </a:r>
            <a:r>
              <a:rPr lang="en-US" altLang="ko-KR" dirty="0"/>
              <a:t>’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내려놓을 때 </a:t>
            </a:r>
            <a:r>
              <a:rPr lang="en-US" altLang="ko-KR" dirty="0"/>
              <a:t>‘</a:t>
            </a:r>
            <a:r>
              <a:rPr lang="ko-KR" altLang="en-US" dirty="0"/>
              <a:t>나트륨 </a:t>
            </a:r>
            <a:r>
              <a:rPr lang="en-US" altLang="ko-KR" dirty="0"/>
              <a:t>Na’</a:t>
            </a:r>
            <a:r>
              <a:rPr lang="ko-KR" altLang="en-US" dirty="0"/>
              <a:t>와 같이 외치며 내려놓아야 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 descr="반 시계 방향 회전 - 무료 상호 작용개 아이콘">
            <a:extLst>
              <a:ext uri="{FF2B5EF4-FFF2-40B4-BE49-F238E27FC236}">
                <a16:creationId xmlns:a16="http://schemas.microsoft.com/office/drawing/2014/main" id="{8C020311-19A1-4FBC-D0CC-B46B6104E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796" y="1170432"/>
            <a:ext cx="1794332" cy="1794332"/>
          </a:xfrm>
          <a:prstGeom prst="rect">
            <a:avLst/>
          </a:prstGeom>
        </p:spPr>
      </p:pic>
      <p:pic>
        <p:nvPicPr>
          <p:cNvPr id="5" name="그림 4" descr="왼손잡이가 지배한다 : 전기와 자기">
            <a:extLst>
              <a:ext uri="{FF2B5EF4-FFF2-40B4-BE49-F238E27FC236}">
                <a16:creationId xmlns:a16="http://schemas.microsoft.com/office/drawing/2014/main" id="{37155940-3F6C-AA08-11FE-39CD3C4061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35"/>
          <a:stretch>
            <a:fillRect/>
          </a:stretch>
        </p:blipFill>
        <p:spPr>
          <a:xfrm>
            <a:off x="8848344" y="1254252"/>
            <a:ext cx="2234184" cy="135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5889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81A01-FB96-C7D9-7B5E-670E0EB55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E9A04A-E5D8-6F13-4905-FB9A2B433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도둑잡기 주의점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C7B8F9-F9E3-8992-CD7E-BD3303F93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순서는 무조건 </a:t>
            </a:r>
            <a:r>
              <a:rPr lang="en-US" altLang="ko-KR" dirty="0"/>
              <a:t>‘</a:t>
            </a:r>
            <a:r>
              <a:rPr lang="ko-KR" altLang="en-US" dirty="0"/>
              <a:t>반시계 방향</a:t>
            </a:r>
            <a:r>
              <a:rPr lang="en-US" altLang="ko-KR" dirty="0"/>
              <a:t>’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내려놓을 때 </a:t>
            </a:r>
            <a:r>
              <a:rPr lang="en-US" altLang="ko-KR" dirty="0"/>
              <a:t>‘</a:t>
            </a:r>
            <a:r>
              <a:rPr lang="ko-KR" altLang="en-US" dirty="0"/>
              <a:t>나트륨 </a:t>
            </a:r>
            <a:r>
              <a:rPr lang="en-US" altLang="ko-KR" dirty="0"/>
              <a:t>Na’</a:t>
            </a:r>
            <a:r>
              <a:rPr lang="ko-KR" altLang="en-US" dirty="0"/>
              <a:t>와 같이 외치며 내려놓아야 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먼저 패를 내려놓은 친구는 심판이 됨</a:t>
            </a:r>
            <a:r>
              <a:rPr lang="en-US" altLang="ko-KR" dirty="0"/>
              <a:t>(</a:t>
            </a:r>
            <a:r>
              <a:rPr lang="ko-KR" altLang="en-US" dirty="0"/>
              <a:t>주기율표</a:t>
            </a:r>
            <a:r>
              <a:rPr lang="en-US" altLang="ko-KR" dirty="0"/>
              <a:t>, </a:t>
            </a:r>
            <a:r>
              <a:rPr lang="ko-KR" altLang="en-US" dirty="0"/>
              <a:t>노트 보기 가능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 descr="반 시계 방향 회전 - 무료 상호 작용개 아이콘">
            <a:extLst>
              <a:ext uri="{FF2B5EF4-FFF2-40B4-BE49-F238E27FC236}">
                <a16:creationId xmlns:a16="http://schemas.microsoft.com/office/drawing/2014/main" id="{083519AF-41A5-E93E-78CE-58156A2CD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796" y="1170432"/>
            <a:ext cx="1794332" cy="1794332"/>
          </a:xfrm>
          <a:prstGeom prst="rect">
            <a:avLst/>
          </a:prstGeom>
        </p:spPr>
      </p:pic>
      <p:pic>
        <p:nvPicPr>
          <p:cNvPr id="5" name="그림 4" descr="왼손잡이가 지배한다 : 전기와 자기">
            <a:extLst>
              <a:ext uri="{FF2B5EF4-FFF2-40B4-BE49-F238E27FC236}">
                <a16:creationId xmlns:a16="http://schemas.microsoft.com/office/drawing/2014/main" id="{B8910442-C88A-C485-B23B-18DF5DCB22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35"/>
          <a:stretch>
            <a:fillRect/>
          </a:stretch>
        </p:blipFill>
        <p:spPr>
          <a:xfrm>
            <a:off x="8848344" y="1254252"/>
            <a:ext cx="2234184" cy="135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0579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8E8FF-E9EF-30E5-4867-5DF7BB2A8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020D47-A8B0-6478-855B-C5621087A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도둑잡기 주의점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B53368-C25A-CE14-B18C-CC102CBA0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순서는 무조건 </a:t>
            </a:r>
            <a:r>
              <a:rPr lang="en-US" altLang="ko-KR" dirty="0"/>
              <a:t>‘</a:t>
            </a:r>
            <a:r>
              <a:rPr lang="ko-KR" altLang="en-US" dirty="0"/>
              <a:t>반시계 방향</a:t>
            </a:r>
            <a:r>
              <a:rPr lang="en-US" altLang="ko-KR" dirty="0"/>
              <a:t>’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내려놓을 때 </a:t>
            </a:r>
            <a:r>
              <a:rPr lang="en-US" altLang="ko-KR" dirty="0"/>
              <a:t>‘</a:t>
            </a:r>
            <a:r>
              <a:rPr lang="ko-KR" altLang="en-US" dirty="0"/>
              <a:t>나트륨 </a:t>
            </a:r>
            <a:r>
              <a:rPr lang="en-US" altLang="ko-KR" dirty="0"/>
              <a:t>Na’</a:t>
            </a:r>
            <a:r>
              <a:rPr lang="ko-KR" altLang="en-US" dirty="0"/>
              <a:t>와 같이 외치며 내려놓아야 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먼저 패를 내려놓은 친구는 심판이 됨</a:t>
            </a:r>
            <a:r>
              <a:rPr lang="en-US" altLang="ko-KR" dirty="0"/>
              <a:t>(</a:t>
            </a:r>
            <a:r>
              <a:rPr lang="ko-KR" altLang="en-US" dirty="0"/>
              <a:t>주기율표</a:t>
            </a:r>
            <a:r>
              <a:rPr lang="en-US" altLang="ko-KR" dirty="0"/>
              <a:t>, </a:t>
            </a:r>
            <a:r>
              <a:rPr lang="ko-KR" altLang="en-US" dirty="0"/>
              <a:t>필기 보기 가능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원소 짝을 잘못 내려놓으면 순서 한 번 건너뜀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 descr="반 시계 방향 회전 - 무료 상호 작용개 아이콘">
            <a:extLst>
              <a:ext uri="{FF2B5EF4-FFF2-40B4-BE49-F238E27FC236}">
                <a16:creationId xmlns:a16="http://schemas.microsoft.com/office/drawing/2014/main" id="{FF1DC6FE-9F8C-CC2C-202B-880A5C321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796" y="1170432"/>
            <a:ext cx="1794332" cy="1794332"/>
          </a:xfrm>
          <a:prstGeom prst="rect">
            <a:avLst/>
          </a:prstGeom>
        </p:spPr>
      </p:pic>
      <p:pic>
        <p:nvPicPr>
          <p:cNvPr id="5" name="그림 4" descr="왼손잡이가 지배한다 : 전기와 자기">
            <a:extLst>
              <a:ext uri="{FF2B5EF4-FFF2-40B4-BE49-F238E27FC236}">
                <a16:creationId xmlns:a16="http://schemas.microsoft.com/office/drawing/2014/main" id="{196F4F60-845B-4A6F-C05E-EA6E07F4FE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35"/>
          <a:stretch>
            <a:fillRect/>
          </a:stretch>
        </p:blipFill>
        <p:spPr>
          <a:xfrm>
            <a:off x="8848344" y="1254252"/>
            <a:ext cx="2234184" cy="135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7524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6CAD9A-72BD-6597-8F8E-95E337A33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재밌게 즐겼나요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00606E-D16E-F145-7BC7-D15C71C23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카드와 자리를 정리정돈하기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원소 기호를 잘 외웠는지 알아봅시다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8799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443</Words>
  <Application>Microsoft Office PowerPoint</Application>
  <PresentationFormat>와이드스크린</PresentationFormat>
  <Paragraphs>141</Paragraphs>
  <Slides>33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7" baseType="lpstr">
      <vt:lpstr>맑은 고딕</vt:lpstr>
      <vt:lpstr>Arial</vt:lpstr>
      <vt:lpstr>Times New Roman</vt:lpstr>
      <vt:lpstr>Office 테마</vt:lpstr>
      <vt:lpstr>PowerPoint 프레젠테이션</vt:lpstr>
      <vt:lpstr>지난 시간에 이어서:</vt:lpstr>
      <vt:lpstr>좋은 기호가 왜 필요할까?</vt:lpstr>
      <vt:lpstr>좋은 기호가 왜 필요할까?</vt:lpstr>
      <vt:lpstr>좋은 기호가 왜 필요할까?</vt:lpstr>
      <vt:lpstr>과학과 의사소통</vt:lpstr>
      <vt:lpstr>과학과 의사소통</vt:lpstr>
      <vt:lpstr>통일된 표현의 중요성</vt:lpstr>
      <vt:lpstr>통일된 표현의 중요성</vt:lpstr>
      <vt:lpstr>통일된 표현의 중요성</vt:lpstr>
      <vt:lpstr>과학자들의 ‘약속‘</vt:lpstr>
      <vt:lpstr>원소 기호</vt:lpstr>
      <vt:lpstr>알아둬야 할 것들</vt:lpstr>
      <vt:lpstr>몇 가지만 알아보면…</vt:lpstr>
      <vt:lpstr>몇 가지만 알아보면…</vt:lpstr>
      <vt:lpstr>몇 가지만 알아보면…</vt:lpstr>
      <vt:lpstr>헷갈리는 것들</vt:lpstr>
      <vt:lpstr>아무튼 이걸 외워야 하는데요</vt:lpstr>
      <vt:lpstr>게임을 합시다</vt:lpstr>
      <vt:lpstr>게임을 합시다</vt:lpstr>
      <vt:lpstr>도둑잡기를 합시다</vt:lpstr>
      <vt:lpstr>도둑잡기를 합시다</vt:lpstr>
      <vt:lpstr>도둑잡기를 합시다</vt:lpstr>
      <vt:lpstr>도둑잡기를 합시다</vt:lpstr>
      <vt:lpstr>도둑잡기를 합시다</vt:lpstr>
      <vt:lpstr>도둑잡기를 합시다</vt:lpstr>
      <vt:lpstr>도둑잡기를 합시다</vt:lpstr>
      <vt:lpstr>도둑잡기를 합시다</vt:lpstr>
      <vt:lpstr>도둑잡기 주의점</vt:lpstr>
      <vt:lpstr>도둑잡기 주의점</vt:lpstr>
      <vt:lpstr>도둑잡기 주의점</vt:lpstr>
      <vt:lpstr>도둑잡기 주의점</vt:lpstr>
      <vt:lpstr>재밌게 즐겼나요?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이하승</dc:creator>
  <cp:lastModifiedBy>이하승</cp:lastModifiedBy>
  <cp:revision>10</cp:revision>
  <dcterms:created xsi:type="dcterms:W3CDTF">2026-05-18T13:09:46Z</dcterms:created>
  <dcterms:modified xsi:type="dcterms:W3CDTF">2026-05-18T17:47:15Z</dcterms:modified>
</cp:coreProperties>
</file>